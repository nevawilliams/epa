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60"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30"/>
    <p:restoredTop sz="86507"/>
  </p:normalViewPr>
  <p:slideViewPr>
    <p:cSldViewPr snapToGrid="0" snapToObjects="1">
      <p:cViewPr varScale="1">
        <p:scale>
          <a:sx n="96" d="100"/>
          <a:sy n="96" d="100"/>
        </p:scale>
        <p:origin x="176" y="9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alpha val="31000"/>
          </a:srgbClr>
        </a:solidFill>
        <a:effectLst/>
      </p:bgPr>
    </p:bg>
    <p:spTree>
      <p:nvGrpSpPr>
        <p:cNvPr id="1" name=""/>
        <p:cNvGrpSpPr/>
        <p:nvPr/>
      </p:nvGrpSpPr>
      <p:grpSpPr>
        <a:xfrm>
          <a:off x="0" y="0"/>
          <a:ext cx="0" cy="0"/>
          <a:chOff x="0" y="0"/>
          <a:chExt cx="0" cy="0"/>
        </a:xfrm>
      </p:grpSpPr>
      <p:sp>
        <p:nvSpPr>
          <p:cNvPr id="152" name="Shape 37">
            <a:extLst>
              <a:ext uri="{FF2B5EF4-FFF2-40B4-BE49-F238E27FC236}">
                <a16:creationId xmlns:a16="http://schemas.microsoft.com/office/drawing/2014/main" id="{D0E0CB1E-F459-E259-5561-3BFC3F2D07A0}"/>
              </a:ext>
            </a:extLst>
          </p:cNvPr>
          <p:cNvSpPr/>
          <p:nvPr/>
        </p:nvSpPr>
        <p:spPr>
          <a:xfrm>
            <a:off x="4005072" y="3858768"/>
            <a:ext cx="4937760" cy="585216"/>
          </a:xfrm>
          <a:prstGeom prst="rect">
            <a:avLst/>
          </a:prstGeom>
          <a:solidFill>
            <a:srgbClr val="FEE2E2"/>
          </a:solidFill>
          <a:ln w="12700">
            <a:solidFill>
              <a:srgbClr val="FFFFFF"/>
            </a:solidFill>
            <a:prstDash val="solid"/>
          </a:ln>
        </p:spPr>
        <p:txBody>
          <a:bodyPr/>
          <a:lstStyle/>
          <a:p>
            <a:endParaRPr lang="en-US"/>
          </a:p>
        </p:txBody>
      </p:sp>
      <p:sp>
        <p:nvSpPr>
          <p:cNvPr id="2" name="Shape 0"/>
          <p:cNvSpPr/>
          <p:nvPr/>
        </p:nvSpPr>
        <p:spPr>
          <a:xfrm>
            <a:off x="0" y="0"/>
            <a:ext cx="9144000" cy="54864"/>
          </a:xfrm>
          <a:prstGeom prst="rect">
            <a:avLst/>
          </a:prstGeom>
          <a:solidFill>
            <a:srgbClr val="0080C6"/>
          </a:solidFill>
          <a:ln w="12700">
            <a:solidFill>
              <a:srgbClr val="0080C6"/>
            </a:solidFill>
            <a:prstDash val="solid"/>
          </a:ln>
        </p:spPr>
        <p:txBody>
          <a:bodyPr/>
          <a:lstStyle/>
          <a:p>
            <a:endParaRPr lang="en-US"/>
          </a:p>
        </p:txBody>
      </p:sp>
      <p:sp>
        <p:nvSpPr>
          <p:cNvPr id="3" name="Shape 1"/>
          <p:cNvSpPr/>
          <p:nvPr/>
        </p:nvSpPr>
        <p:spPr>
          <a:xfrm>
            <a:off x="0" y="54864"/>
            <a:ext cx="54864" cy="822960"/>
          </a:xfrm>
          <a:prstGeom prst="rect">
            <a:avLst/>
          </a:prstGeom>
          <a:solidFill>
            <a:srgbClr val="FFC20E"/>
          </a:solidFill>
          <a:ln w="12700">
            <a:solidFill>
              <a:srgbClr val="FFC20E"/>
            </a:solidFill>
            <a:prstDash val="solid"/>
          </a:ln>
        </p:spPr>
        <p:txBody>
          <a:bodyPr/>
          <a:lstStyle/>
          <a:p>
            <a:endParaRPr lang="en-US"/>
          </a:p>
        </p:txBody>
      </p:sp>
      <p:sp>
        <p:nvSpPr>
          <p:cNvPr id="4" name="Text 2"/>
          <p:cNvSpPr/>
          <p:nvPr/>
        </p:nvSpPr>
        <p:spPr>
          <a:xfrm>
            <a:off x="201168" y="91440"/>
            <a:ext cx="8686800" cy="438912"/>
          </a:xfrm>
          <a:prstGeom prst="rect">
            <a:avLst/>
          </a:prstGeom>
          <a:noFill/>
          <a:ln/>
        </p:spPr>
        <p:txBody>
          <a:bodyPr wrap="square" rtlCol="0" anchor="ctr"/>
          <a:lstStyle/>
          <a:p>
            <a:pPr marL="0" indent="0">
              <a:buNone/>
            </a:pPr>
            <a:r>
              <a:rPr lang="en-US" sz="2200" b="1" dirty="0">
                <a:solidFill>
                  <a:srgbClr val="0080C6"/>
                </a:solidFill>
                <a:latin typeface="Calibri" pitchFamily="34" charset="0"/>
                <a:ea typeface="Calibri" pitchFamily="34" charset="-122"/>
                <a:cs typeface="Calibri" pitchFamily="34" charset="-120"/>
              </a:rPr>
              <a:t>Using EPA to Optimize Play Selection on 2nd &amp; Short</a:t>
            </a:r>
            <a:endParaRPr lang="en-US" sz="2200" dirty="0"/>
          </a:p>
        </p:txBody>
      </p:sp>
      <p:sp>
        <p:nvSpPr>
          <p:cNvPr id="5" name="Text 3"/>
          <p:cNvSpPr/>
          <p:nvPr/>
        </p:nvSpPr>
        <p:spPr>
          <a:xfrm>
            <a:off x="201168" y="512064"/>
            <a:ext cx="8686800" cy="18288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Neva Williams </a:t>
            </a:r>
            <a:endParaRPr lang="en-US" sz="900" dirty="0"/>
          </a:p>
        </p:txBody>
      </p:sp>
      <p:sp>
        <p:nvSpPr>
          <p:cNvPr id="6" name="Shape 4"/>
          <p:cNvSpPr/>
          <p:nvPr/>
        </p:nvSpPr>
        <p:spPr>
          <a:xfrm>
            <a:off x="201168" y="768096"/>
            <a:ext cx="8741664" cy="0"/>
          </a:xfrm>
          <a:prstGeom prst="line">
            <a:avLst/>
          </a:prstGeom>
          <a:noFill/>
          <a:ln w="12700">
            <a:solidFill>
              <a:srgbClr val="F4F8FB"/>
            </a:solidFill>
            <a:prstDash val="solid"/>
          </a:ln>
        </p:spPr>
        <p:txBody>
          <a:bodyPr/>
          <a:lstStyle/>
          <a:p>
            <a:endParaRPr lang="en-US"/>
          </a:p>
        </p:txBody>
      </p:sp>
      <p:sp>
        <p:nvSpPr>
          <p:cNvPr id="7" name="Shape 5"/>
          <p:cNvSpPr/>
          <p:nvPr/>
        </p:nvSpPr>
        <p:spPr>
          <a:xfrm>
            <a:off x="0" y="54864"/>
            <a:ext cx="54864" cy="5084064"/>
          </a:xfrm>
          <a:prstGeom prst="rect">
            <a:avLst/>
          </a:prstGeom>
          <a:solidFill>
            <a:srgbClr val="FFC20E"/>
          </a:solidFill>
          <a:ln w="12700">
            <a:solidFill>
              <a:srgbClr val="FFC20E"/>
            </a:solidFill>
            <a:prstDash val="solid"/>
          </a:ln>
        </p:spPr>
        <p:txBody>
          <a:bodyPr/>
          <a:lstStyle/>
          <a:p>
            <a:endParaRPr lang="en-US"/>
          </a:p>
        </p:txBody>
      </p:sp>
      <p:sp>
        <p:nvSpPr>
          <p:cNvPr id="8" name="Text 6"/>
          <p:cNvSpPr/>
          <p:nvPr/>
        </p:nvSpPr>
        <p:spPr>
          <a:xfrm>
            <a:off x="201168" y="877824"/>
            <a:ext cx="3566160" cy="256032"/>
          </a:xfrm>
          <a:prstGeom prst="rect">
            <a:avLst/>
          </a:prstGeom>
          <a:noFill/>
          <a:ln/>
        </p:spPr>
        <p:txBody>
          <a:bodyPr wrap="square" rtlCol="0" anchor="ctr"/>
          <a:lstStyle/>
          <a:p>
            <a:pPr marL="0" indent="0">
              <a:buNone/>
            </a:pPr>
            <a:r>
              <a:rPr lang="en-US" sz="1200" b="1" dirty="0">
                <a:solidFill>
                  <a:srgbClr val="0080C6"/>
                </a:solidFill>
                <a:latin typeface="Calibri" pitchFamily="34" charset="0"/>
                <a:ea typeface="Calibri" pitchFamily="34" charset="-122"/>
                <a:cs typeface="Calibri" pitchFamily="34" charset="-120"/>
              </a:rPr>
              <a:t>Expected Points Added (EPA)</a:t>
            </a:r>
            <a:endParaRPr lang="en-US" sz="1200" dirty="0"/>
          </a:p>
        </p:txBody>
      </p:sp>
      <p:sp>
        <p:nvSpPr>
          <p:cNvPr id="9" name="Text 7"/>
          <p:cNvSpPr/>
          <p:nvPr/>
        </p:nvSpPr>
        <p:spPr>
          <a:xfrm>
            <a:off x="213360" y="1129792"/>
            <a:ext cx="3566160" cy="914400"/>
          </a:xfrm>
          <a:prstGeom prst="rect">
            <a:avLst/>
          </a:prstGeom>
          <a:noFill/>
          <a:ln/>
        </p:spPr>
        <p:txBody>
          <a:bodyPr wrap="square" rtlCol="0" anchor="t"/>
          <a:lstStyle/>
          <a:p>
            <a:pPr marL="0" indent="0">
              <a:buNone/>
            </a:pPr>
            <a:r>
              <a:rPr lang="en-US" sz="950" dirty="0">
                <a:solidFill>
                  <a:srgbClr val="334155"/>
                </a:solidFill>
                <a:latin typeface="Calibri" pitchFamily="34" charset="0"/>
                <a:ea typeface="Calibri" pitchFamily="34" charset="-122"/>
                <a:cs typeface="Calibri" pitchFamily="34" charset="-120"/>
              </a:rPr>
              <a:t>EPA captures how a play changes scoring value within its situation. The examples on the right show where context defines value, and where traditional metrics story telling the full story. EPA shows what the play was actually worth within its context, not just what it gained.</a:t>
            </a:r>
          </a:p>
        </p:txBody>
      </p:sp>
      <p:sp>
        <p:nvSpPr>
          <p:cNvPr id="10" name="Shape 8"/>
          <p:cNvSpPr/>
          <p:nvPr/>
        </p:nvSpPr>
        <p:spPr>
          <a:xfrm>
            <a:off x="201168" y="2157984"/>
            <a:ext cx="3566160" cy="1060704"/>
          </a:xfrm>
          <a:prstGeom prst="rect">
            <a:avLst/>
          </a:prstGeom>
          <a:solidFill>
            <a:srgbClr val="F4F8FB"/>
          </a:solidFill>
          <a:ln w="12700">
            <a:solidFill>
              <a:srgbClr val="F4F8FB"/>
            </a:solidFill>
            <a:prstDash val="solid"/>
          </a:ln>
        </p:spPr>
        <p:txBody>
          <a:bodyPr/>
          <a:lstStyle/>
          <a:p>
            <a:endParaRPr lang="en-US" dirty="0"/>
          </a:p>
        </p:txBody>
      </p:sp>
      <p:sp>
        <p:nvSpPr>
          <p:cNvPr id="12" name="Text 10"/>
          <p:cNvSpPr/>
          <p:nvPr/>
        </p:nvSpPr>
        <p:spPr>
          <a:xfrm>
            <a:off x="286512" y="2350008"/>
            <a:ext cx="3383280" cy="201168"/>
          </a:xfrm>
          <a:prstGeom prst="rect">
            <a:avLst/>
          </a:prstGeom>
          <a:noFill/>
          <a:ln/>
        </p:spPr>
        <p:txBody>
          <a:bodyPr wrap="square" rtlCol="0" anchor="ctr"/>
          <a:lstStyle/>
          <a:p>
            <a:pPr marL="0" indent="0">
              <a:buNone/>
            </a:pPr>
            <a:endParaRPr lang="en-US" sz="950" dirty="0"/>
          </a:p>
        </p:txBody>
      </p:sp>
      <p:sp>
        <p:nvSpPr>
          <p:cNvPr id="13" name="Text 11"/>
          <p:cNvSpPr/>
          <p:nvPr/>
        </p:nvSpPr>
        <p:spPr>
          <a:xfrm>
            <a:off x="310896" y="2395728"/>
            <a:ext cx="2395728" cy="292608"/>
          </a:xfrm>
          <a:prstGeom prst="rect">
            <a:avLst/>
          </a:prstGeom>
          <a:noFill/>
          <a:ln/>
        </p:spPr>
        <p:txBody>
          <a:bodyPr wrap="square" rtlCol="0" anchor="ctr"/>
          <a:lstStyle/>
          <a:p>
            <a:endParaRPr lang="en-US" sz="900" dirty="0"/>
          </a:p>
        </p:txBody>
      </p:sp>
      <p:sp>
        <p:nvSpPr>
          <p:cNvPr id="14" name="Shape 12"/>
          <p:cNvSpPr/>
          <p:nvPr/>
        </p:nvSpPr>
        <p:spPr>
          <a:xfrm>
            <a:off x="201168" y="2852928"/>
            <a:ext cx="3566160" cy="0"/>
          </a:xfrm>
          <a:prstGeom prst="line">
            <a:avLst/>
          </a:prstGeom>
          <a:noFill/>
          <a:ln w="12700">
            <a:solidFill>
              <a:srgbClr val="F4F8FB"/>
            </a:solidFill>
            <a:prstDash val="solid"/>
          </a:ln>
        </p:spPr>
        <p:txBody>
          <a:bodyPr/>
          <a:lstStyle/>
          <a:p>
            <a:endParaRPr lang="en-US"/>
          </a:p>
        </p:txBody>
      </p:sp>
      <p:sp>
        <p:nvSpPr>
          <p:cNvPr id="15" name="Text 13"/>
          <p:cNvSpPr/>
          <p:nvPr/>
        </p:nvSpPr>
        <p:spPr>
          <a:xfrm>
            <a:off x="201168" y="3359955"/>
            <a:ext cx="3566160" cy="256032"/>
          </a:xfrm>
          <a:prstGeom prst="rect">
            <a:avLst/>
          </a:prstGeom>
          <a:noFill/>
          <a:ln/>
        </p:spPr>
        <p:txBody>
          <a:bodyPr wrap="square" rtlCol="0" anchor="ctr"/>
          <a:lstStyle/>
          <a:p>
            <a:pPr marL="0" indent="0">
              <a:buNone/>
            </a:pPr>
            <a:endParaRPr lang="en-US" sz="1100" b="1" dirty="0">
              <a:solidFill>
                <a:srgbClr val="0080C6"/>
              </a:solidFill>
              <a:latin typeface="Calibri" pitchFamily="34" charset="0"/>
              <a:ea typeface="Calibri" pitchFamily="34" charset="-122"/>
              <a:cs typeface="Calibri" pitchFamily="34" charset="-120"/>
            </a:endParaRPr>
          </a:p>
          <a:p>
            <a:pPr marL="0" indent="0">
              <a:buNone/>
            </a:pPr>
            <a:r>
              <a:rPr lang="en-US" sz="1200" b="1" dirty="0">
                <a:solidFill>
                  <a:srgbClr val="0080C6"/>
                </a:solidFill>
                <a:latin typeface="Calibri" pitchFamily="34" charset="0"/>
                <a:ea typeface="Calibri" pitchFamily="34" charset="-122"/>
                <a:cs typeface="Calibri" pitchFamily="34" charset="-120"/>
              </a:rPr>
              <a:t>2nd &amp; Short</a:t>
            </a:r>
            <a:endParaRPr lang="en-US" sz="1200" dirty="0"/>
          </a:p>
        </p:txBody>
      </p:sp>
      <p:sp>
        <p:nvSpPr>
          <p:cNvPr id="16" name="Text 14"/>
          <p:cNvSpPr/>
          <p:nvPr/>
        </p:nvSpPr>
        <p:spPr>
          <a:xfrm>
            <a:off x="213360" y="3683172"/>
            <a:ext cx="3566160" cy="749808"/>
          </a:xfrm>
          <a:prstGeom prst="rect">
            <a:avLst/>
          </a:prstGeom>
          <a:noFill/>
          <a:ln/>
        </p:spPr>
        <p:txBody>
          <a:bodyPr wrap="square" rtlCol="0" anchor="t"/>
          <a:lstStyle/>
          <a:p>
            <a:pPr marL="0" indent="0">
              <a:buNone/>
            </a:pPr>
            <a:r>
              <a:rPr lang="en-US" sz="950" dirty="0">
                <a:latin typeface="Calibri" pitchFamily="34" charset="0"/>
                <a:ea typeface="Calibri" pitchFamily="34" charset="-122"/>
                <a:cs typeface="Calibri" pitchFamily="34" charset="-120"/>
              </a:rPr>
              <a:t>One of the best spots on the field. The playbook is wide open, defense has to respect everything, risk floor is low. EPA gives us a sharper lens on this situation by understanding exactly where the value is and where there's an opportunity to gain a competitive edge.</a:t>
            </a:r>
            <a:endParaRPr lang="en-US" sz="950" dirty="0"/>
          </a:p>
        </p:txBody>
      </p:sp>
      <p:sp>
        <p:nvSpPr>
          <p:cNvPr id="60" name="Shape 58"/>
          <p:cNvSpPr/>
          <p:nvPr/>
        </p:nvSpPr>
        <p:spPr>
          <a:xfrm>
            <a:off x="54864" y="4929546"/>
            <a:ext cx="9144000" cy="219456"/>
          </a:xfrm>
          <a:prstGeom prst="rect">
            <a:avLst/>
          </a:prstGeom>
          <a:solidFill>
            <a:srgbClr val="0080C6"/>
          </a:solidFill>
          <a:ln w="12700">
            <a:solidFill>
              <a:srgbClr val="0080C6"/>
            </a:solidFill>
            <a:prstDash val="solid"/>
          </a:ln>
        </p:spPr>
        <p:txBody>
          <a:bodyPr/>
          <a:lstStyle/>
          <a:p>
            <a:endParaRPr lang="en-US"/>
          </a:p>
        </p:txBody>
      </p:sp>
      <p:sp>
        <p:nvSpPr>
          <p:cNvPr id="61" name="Text 59"/>
          <p:cNvSpPr/>
          <p:nvPr/>
        </p:nvSpPr>
        <p:spPr>
          <a:xfrm>
            <a:off x="201168" y="4928616"/>
            <a:ext cx="8741664" cy="201168"/>
          </a:xfrm>
          <a:prstGeom prst="rect">
            <a:avLst/>
          </a:prstGeom>
          <a:noFill/>
          <a:ln/>
        </p:spPr>
        <p:txBody>
          <a:bodyPr wrap="square" rtlCol="0" anchor="ctr"/>
          <a:lstStyle/>
          <a:p>
            <a:pPr marL="0" indent="0" algn="ctr">
              <a:buNone/>
            </a:pPr>
            <a:endParaRPr lang="en-US" sz="950" dirty="0"/>
          </a:p>
        </p:txBody>
      </p:sp>
      <p:sp>
        <p:nvSpPr>
          <p:cNvPr id="111" name="Shape 16">
            <a:extLst>
              <a:ext uri="{FF2B5EF4-FFF2-40B4-BE49-F238E27FC236}">
                <a16:creationId xmlns:a16="http://schemas.microsoft.com/office/drawing/2014/main" id="{F609797F-C384-AC06-0820-54D27C75354F}"/>
              </a:ext>
            </a:extLst>
          </p:cNvPr>
          <p:cNvSpPr/>
          <p:nvPr/>
        </p:nvSpPr>
        <p:spPr>
          <a:xfrm>
            <a:off x="4005072" y="1024128"/>
            <a:ext cx="4937760" cy="292608"/>
          </a:xfrm>
          <a:prstGeom prst="rect">
            <a:avLst/>
          </a:prstGeom>
          <a:solidFill>
            <a:srgbClr val="002A5E"/>
          </a:solidFill>
          <a:ln w="12700">
            <a:solidFill>
              <a:srgbClr val="002A5E"/>
            </a:solidFill>
            <a:prstDash val="solid"/>
          </a:ln>
        </p:spPr>
        <p:txBody>
          <a:bodyPr/>
          <a:lstStyle/>
          <a:p>
            <a:endParaRPr lang="en-US"/>
          </a:p>
        </p:txBody>
      </p:sp>
      <p:sp>
        <p:nvSpPr>
          <p:cNvPr id="112" name="Shape 17">
            <a:extLst>
              <a:ext uri="{FF2B5EF4-FFF2-40B4-BE49-F238E27FC236}">
                <a16:creationId xmlns:a16="http://schemas.microsoft.com/office/drawing/2014/main" id="{342E7B8F-CCCC-21AC-02C5-E5B83F31DC37}"/>
              </a:ext>
            </a:extLst>
          </p:cNvPr>
          <p:cNvSpPr/>
          <p:nvPr/>
        </p:nvSpPr>
        <p:spPr>
          <a:xfrm>
            <a:off x="4005072" y="1316736"/>
            <a:ext cx="4937760" cy="36576"/>
          </a:xfrm>
          <a:prstGeom prst="rect">
            <a:avLst/>
          </a:prstGeom>
          <a:solidFill>
            <a:srgbClr val="FFC20E"/>
          </a:solidFill>
          <a:ln w="12700">
            <a:solidFill>
              <a:srgbClr val="FFC20E"/>
            </a:solidFill>
            <a:prstDash val="solid"/>
          </a:ln>
        </p:spPr>
        <p:txBody>
          <a:bodyPr/>
          <a:lstStyle/>
          <a:p>
            <a:endParaRPr lang="en-US"/>
          </a:p>
        </p:txBody>
      </p:sp>
      <p:sp>
        <p:nvSpPr>
          <p:cNvPr id="113" name="Text 18">
            <a:extLst>
              <a:ext uri="{FF2B5EF4-FFF2-40B4-BE49-F238E27FC236}">
                <a16:creationId xmlns:a16="http://schemas.microsoft.com/office/drawing/2014/main" id="{5463B4FA-25F9-1FE9-EDF3-F6D7031AF460}"/>
              </a:ext>
            </a:extLst>
          </p:cNvPr>
          <p:cNvSpPr/>
          <p:nvPr/>
        </p:nvSpPr>
        <p:spPr>
          <a:xfrm>
            <a:off x="4059936" y="1060704"/>
            <a:ext cx="2084832" cy="219456"/>
          </a:xfrm>
          <a:prstGeom prst="rect">
            <a:avLst/>
          </a:prstGeom>
          <a:noFill/>
          <a:ln/>
        </p:spPr>
        <p:txBody>
          <a:bodyPr wrap="square" rtlCol="0" anchor="ctr"/>
          <a:lstStyle/>
          <a:p>
            <a:pPr marL="0" indent="0" algn="l">
              <a:buNone/>
            </a:pPr>
            <a:r>
              <a:rPr lang="en-US" sz="850" b="1" dirty="0">
                <a:solidFill>
                  <a:srgbClr val="FFFFFF"/>
                </a:solidFill>
                <a:latin typeface="Calibri" pitchFamily="34" charset="0"/>
                <a:ea typeface="Calibri" pitchFamily="34" charset="-122"/>
                <a:cs typeface="Calibri" pitchFamily="34" charset="-120"/>
              </a:rPr>
              <a:t>Play &amp; Game Context</a:t>
            </a:r>
            <a:endParaRPr lang="en-US" sz="850" dirty="0"/>
          </a:p>
        </p:txBody>
      </p:sp>
      <p:sp>
        <p:nvSpPr>
          <p:cNvPr id="114" name="Text 19">
            <a:extLst>
              <a:ext uri="{FF2B5EF4-FFF2-40B4-BE49-F238E27FC236}">
                <a16:creationId xmlns:a16="http://schemas.microsoft.com/office/drawing/2014/main" id="{2CC4DB0A-4BA0-C19B-C1FF-F9E8C4AF28C7}"/>
              </a:ext>
            </a:extLst>
          </p:cNvPr>
          <p:cNvSpPr/>
          <p:nvPr/>
        </p:nvSpPr>
        <p:spPr>
          <a:xfrm>
            <a:off x="6181344" y="1060704"/>
            <a:ext cx="548640"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Yards</a:t>
            </a:r>
            <a:endParaRPr lang="en-US" sz="850" dirty="0"/>
          </a:p>
        </p:txBody>
      </p:sp>
      <p:sp>
        <p:nvSpPr>
          <p:cNvPr id="115" name="Text 20">
            <a:extLst>
              <a:ext uri="{FF2B5EF4-FFF2-40B4-BE49-F238E27FC236}">
                <a16:creationId xmlns:a16="http://schemas.microsoft.com/office/drawing/2014/main" id="{EC6B981C-8092-3792-0367-C038FE2CB2D2}"/>
              </a:ext>
            </a:extLst>
          </p:cNvPr>
          <p:cNvSpPr/>
          <p:nvPr/>
        </p:nvSpPr>
        <p:spPr>
          <a:xfrm>
            <a:off x="6766560" y="1060704"/>
            <a:ext cx="658368" cy="21945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Success</a:t>
            </a:r>
            <a:endParaRPr lang="en-US" sz="850" dirty="0"/>
          </a:p>
        </p:txBody>
      </p:sp>
      <p:sp>
        <p:nvSpPr>
          <p:cNvPr id="116" name="Text 21">
            <a:extLst>
              <a:ext uri="{FF2B5EF4-FFF2-40B4-BE49-F238E27FC236}">
                <a16:creationId xmlns:a16="http://schemas.microsoft.com/office/drawing/2014/main" id="{D994F358-1B2A-02F0-EB7C-E327E4284432}"/>
              </a:ext>
            </a:extLst>
          </p:cNvPr>
          <p:cNvSpPr/>
          <p:nvPr/>
        </p:nvSpPr>
        <p:spPr>
          <a:xfrm>
            <a:off x="7461504" y="1060704"/>
            <a:ext cx="548640" cy="219456"/>
          </a:xfrm>
          <a:prstGeom prst="rect">
            <a:avLst/>
          </a:prstGeom>
          <a:noFill/>
          <a:ln/>
        </p:spPr>
        <p:txBody>
          <a:bodyPr wrap="square" rtlCol="0" anchor="ctr"/>
          <a:lstStyle/>
          <a:p>
            <a:pPr marL="0" indent="0" algn="ctr">
              <a:buNone/>
            </a:pPr>
            <a:r>
              <a:rPr lang="en-US" sz="850" b="1" dirty="0">
                <a:solidFill>
                  <a:srgbClr val="FFC20E"/>
                </a:solidFill>
                <a:latin typeface="Calibri" pitchFamily="34" charset="0"/>
                <a:ea typeface="Calibri" pitchFamily="34" charset="-122"/>
                <a:cs typeface="Calibri" pitchFamily="34" charset="-120"/>
              </a:rPr>
              <a:t>EPA</a:t>
            </a:r>
            <a:endParaRPr lang="en-US" sz="850" dirty="0"/>
          </a:p>
        </p:txBody>
      </p:sp>
      <p:sp>
        <p:nvSpPr>
          <p:cNvPr id="117" name="Text 22">
            <a:extLst>
              <a:ext uri="{FF2B5EF4-FFF2-40B4-BE49-F238E27FC236}">
                <a16:creationId xmlns:a16="http://schemas.microsoft.com/office/drawing/2014/main" id="{4B4F6375-B7EF-8D31-92E8-91711CFD7586}"/>
              </a:ext>
            </a:extLst>
          </p:cNvPr>
          <p:cNvSpPr/>
          <p:nvPr/>
        </p:nvSpPr>
        <p:spPr>
          <a:xfrm>
            <a:off x="8046720" y="1060704"/>
            <a:ext cx="841248" cy="219456"/>
          </a:xfrm>
          <a:prstGeom prst="rect">
            <a:avLst/>
          </a:prstGeom>
          <a:noFill/>
          <a:ln/>
        </p:spPr>
        <p:txBody>
          <a:bodyPr wrap="square" rtlCol="0" anchor="ctr"/>
          <a:lstStyle/>
          <a:p>
            <a:pPr marL="0" indent="0" algn="l">
              <a:buNone/>
            </a:pPr>
            <a:r>
              <a:rPr lang="en-US" sz="850" b="1" dirty="0">
                <a:solidFill>
                  <a:srgbClr val="FFFFFF"/>
                </a:solidFill>
                <a:latin typeface="Calibri" pitchFamily="34" charset="0"/>
                <a:ea typeface="Calibri" pitchFamily="34" charset="-122"/>
                <a:cs typeface="Calibri" pitchFamily="34" charset="-120"/>
              </a:rPr>
              <a:t>What EPA Sees</a:t>
            </a:r>
            <a:endParaRPr lang="en-US" sz="850" dirty="0"/>
          </a:p>
        </p:txBody>
      </p:sp>
      <p:sp>
        <p:nvSpPr>
          <p:cNvPr id="118" name="Shape 23">
            <a:extLst>
              <a:ext uri="{FF2B5EF4-FFF2-40B4-BE49-F238E27FC236}">
                <a16:creationId xmlns:a16="http://schemas.microsoft.com/office/drawing/2014/main" id="{2E91529C-445A-E7F1-8FC1-A862262BADCC}"/>
              </a:ext>
            </a:extLst>
          </p:cNvPr>
          <p:cNvSpPr/>
          <p:nvPr/>
        </p:nvSpPr>
        <p:spPr>
          <a:xfrm>
            <a:off x="4005072" y="1353312"/>
            <a:ext cx="4937760" cy="585216"/>
          </a:xfrm>
          <a:prstGeom prst="rect">
            <a:avLst/>
          </a:prstGeom>
          <a:solidFill>
            <a:srgbClr val="EFF6FF"/>
          </a:solidFill>
          <a:ln w="12700">
            <a:solidFill>
              <a:srgbClr val="FFFFFF"/>
            </a:solidFill>
            <a:prstDash val="solid"/>
          </a:ln>
        </p:spPr>
        <p:txBody>
          <a:bodyPr/>
          <a:lstStyle/>
          <a:p>
            <a:endParaRPr lang="en-US" dirty="0"/>
          </a:p>
        </p:txBody>
      </p:sp>
      <p:sp>
        <p:nvSpPr>
          <p:cNvPr id="119" name="Text 24">
            <a:extLst>
              <a:ext uri="{FF2B5EF4-FFF2-40B4-BE49-F238E27FC236}">
                <a16:creationId xmlns:a16="http://schemas.microsoft.com/office/drawing/2014/main" id="{FC0C9642-7D75-36C0-C81A-AA37F32C8CD7}"/>
              </a:ext>
            </a:extLst>
          </p:cNvPr>
          <p:cNvSpPr/>
          <p:nvPr/>
        </p:nvSpPr>
        <p:spPr>
          <a:xfrm>
            <a:off x="4078224" y="1408176"/>
            <a:ext cx="2011680" cy="256032"/>
          </a:xfrm>
          <a:prstGeom prst="rect">
            <a:avLst/>
          </a:prstGeom>
          <a:noFill/>
          <a:ln/>
        </p:spPr>
        <p:txBody>
          <a:bodyPr wrap="square" rtlCol="0" anchor="ctr"/>
          <a:lstStyle/>
          <a:p>
            <a:pPr marL="0" indent="0">
              <a:buNone/>
            </a:pPr>
            <a:r>
              <a:rPr lang="en-US" sz="1000" b="1" dirty="0">
                <a:solidFill>
                  <a:srgbClr val="002A5E"/>
                </a:solidFill>
                <a:latin typeface="Calibri" pitchFamily="34" charset="0"/>
                <a:ea typeface="Calibri" pitchFamily="34" charset="-122"/>
                <a:cs typeface="Calibri" pitchFamily="34" charset="-120"/>
              </a:rPr>
              <a:t>Herbert to Q Johnston (TD)</a:t>
            </a:r>
            <a:endParaRPr lang="en-US" sz="1000" dirty="0"/>
          </a:p>
        </p:txBody>
      </p:sp>
      <p:sp>
        <p:nvSpPr>
          <p:cNvPr id="120" name="Text 25">
            <a:extLst>
              <a:ext uri="{FF2B5EF4-FFF2-40B4-BE49-F238E27FC236}">
                <a16:creationId xmlns:a16="http://schemas.microsoft.com/office/drawing/2014/main" id="{1844A62D-A684-7C99-AF78-7247C619BBFA}"/>
              </a:ext>
            </a:extLst>
          </p:cNvPr>
          <p:cNvSpPr/>
          <p:nvPr/>
        </p:nvSpPr>
        <p:spPr>
          <a:xfrm>
            <a:off x="4078224" y="1664208"/>
            <a:ext cx="2011680" cy="219456"/>
          </a:xfrm>
          <a:prstGeom prst="rect">
            <a:avLst/>
          </a:prstGeom>
          <a:noFill/>
          <a:ln/>
        </p:spPr>
        <p:txBody>
          <a:bodyPr wrap="square"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Wk 2 vs LV · LV 40-yd line · 2nd &amp; 3</a:t>
            </a:r>
            <a:endParaRPr lang="en-US" sz="750" dirty="0"/>
          </a:p>
        </p:txBody>
      </p:sp>
      <p:sp>
        <p:nvSpPr>
          <p:cNvPr id="121" name="Text 26">
            <a:extLst>
              <a:ext uri="{FF2B5EF4-FFF2-40B4-BE49-F238E27FC236}">
                <a16:creationId xmlns:a16="http://schemas.microsoft.com/office/drawing/2014/main" id="{5C8476AA-2B38-BB73-69F6-EB9AA635BD91}"/>
              </a:ext>
            </a:extLst>
          </p:cNvPr>
          <p:cNvSpPr/>
          <p:nvPr/>
        </p:nvSpPr>
        <p:spPr>
          <a:xfrm>
            <a:off x="6181344" y="1499616"/>
            <a:ext cx="548640" cy="329184"/>
          </a:xfrm>
          <a:prstGeom prst="rect">
            <a:avLst/>
          </a:prstGeom>
          <a:noFill/>
          <a:ln/>
        </p:spPr>
        <p:txBody>
          <a:bodyPr wrap="square" rtlCol="0" anchor="ctr"/>
          <a:lstStyle/>
          <a:p>
            <a:pPr marL="0" indent="0" algn="ctr">
              <a:buNone/>
            </a:pPr>
            <a:r>
              <a:rPr lang="en-US" sz="1000" b="1" dirty="0">
                <a:solidFill>
                  <a:srgbClr val="002A5E"/>
                </a:solidFill>
                <a:latin typeface="Calibri" pitchFamily="34" charset="0"/>
                <a:ea typeface="Calibri" pitchFamily="34" charset="-122"/>
                <a:cs typeface="Calibri" pitchFamily="34" charset="-120"/>
              </a:rPr>
              <a:t>+60</a:t>
            </a:r>
            <a:endParaRPr lang="en-US" sz="1000" dirty="0"/>
          </a:p>
        </p:txBody>
      </p:sp>
      <p:sp>
        <p:nvSpPr>
          <p:cNvPr id="122" name="Text 27">
            <a:extLst>
              <a:ext uri="{FF2B5EF4-FFF2-40B4-BE49-F238E27FC236}">
                <a16:creationId xmlns:a16="http://schemas.microsoft.com/office/drawing/2014/main" id="{0DB4D917-5386-2B8C-BB5D-9FF69E2ADD73}"/>
              </a:ext>
            </a:extLst>
          </p:cNvPr>
          <p:cNvSpPr/>
          <p:nvPr/>
        </p:nvSpPr>
        <p:spPr>
          <a:xfrm>
            <a:off x="6766560" y="1499616"/>
            <a:ext cx="658368"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YES</a:t>
            </a:r>
            <a:endParaRPr lang="en-US" sz="1000" dirty="0"/>
          </a:p>
        </p:txBody>
      </p:sp>
      <p:sp>
        <p:nvSpPr>
          <p:cNvPr id="123" name="Text 28">
            <a:extLst>
              <a:ext uri="{FF2B5EF4-FFF2-40B4-BE49-F238E27FC236}">
                <a16:creationId xmlns:a16="http://schemas.microsoft.com/office/drawing/2014/main" id="{9BBA5DA0-07C7-2EC0-27CE-F9EEADAC5C1C}"/>
              </a:ext>
            </a:extLst>
          </p:cNvPr>
          <p:cNvSpPr/>
          <p:nvPr/>
        </p:nvSpPr>
        <p:spPr>
          <a:xfrm>
            <a:off x="7461504" y="1499616"/>
            <a:ext cx="548640"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+5.69</a:t>
            </a:r>
            <a:endParaRPr lang="en-US" sz="1000" dirty="0"/>
          </a:p>
        </p:txBody>
      </p:sp>
      <p:sp>
        <p:nvSpPr>
          <p:cNvPr id="124" name="Text 29">
            <a:extLst>
              <a:ext uri="{FF2B5EF4-FFF2-40B4-BE49-F238E27FC236}">
                <a16:creationId xmlns:a16="http://schemas.microsoft.com/office/drawing/2014/main" id="{A244A012-BF23-E25F-9AC7-2E7CDCB9477F}"/>
              </a:ext>
            </a:extLst>
          </p:cNvPr>
          <p:cNvSpPr/>
          <p:nvPr/>
        </p:nvSpPr>
        <p:spPr>
          <a:xfrm>
            <a:off x="8046720" y="1444752"/>
            <a:ext cx="841248" cy="438912"/>
          </a:xfrm>
          <a:prstGeom prst="rect">
            <a:avLst/>
          </a:prstGeom>
          <a:noFill/>
          <a:ln/>
        </p:spPr>
        <p:txBody>
          <a:bodyPr wrap="square"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All metrics agree:</a:t>
            </a:r>
            <a:endParaRPr lang="en-US" sz="750" dirty="0"/>
          </a:p>
          <a:p>
            <a:pPr marL="0" indent="0">
              <a:buNone/>
            </a:pPr>
            <a:r>
              <a:rPr lang="en-US" sz="750" i="1" dirty="0">
                <a:solidFill>
                  <a:srgbClr val="334155"/>
                </a:solidFill>
                <a:latin typeface="Calibri" pitchFamily="34" charset="0"/>
                <a:ea typeface="Calibri" pitchFamily="34" charset="-122"/>
                <a:cs typeface="Calibri" pitchFamily="34" charset="-120"/>
              </a:rPr>
              <a:t>explosive, +5.7 pts</a:t>
            </a:r>
            <a:endParaRPr lang="en-US" sz="750" dirty="0"/>
          </a:p>
        </p:txBody>
      </p:sp>
      <p:sp>
        <p:nvSpPr>
          <p:cNvPr id="125" name="Shape 30">
            <a:extLst>
              <a:ext uri="{FF2B5EF4-FFF2-40B4-BE49-F238E27FC236}">
                <a16:creationId xmlns:a16="http://schemas.microsoft.com/office/drawing/2014/main" id="{AE7B5F5E-E0B4-877A-19FA-5BDB0A4DBEB3}"/>
              </a:ext>
            </a:extLst>
          </p:cNvPr>
          <p:cNvSpPr/>
          <p:nvPr/>
        </p:nvSpPr>
        <p:spPr>
          <a:xfrm>
            <a:off x="4005072" y="1975104"/>
            <a:ext cx="4937760" cy="585216"/>
          </a:xfrm>
          <a:prstGeom prst="rect">
            <a:avLst/>
          </a:prstGeom>
          <a:solidFill>
            <a:srgbClr val="DCFCE7"/>
          </a:solidFill>
          <a:ln w="12700">
            <a:solidFill>
              <a:srgbClr val="FFFFFF"/>
            </a:solidFill>
            <a:prstDash val="solid"/>
          </a:ln>
        </p:spPr>
        <p:txBody>
          <a:bodyPr/>
          <a:lstStyle/>
          <a:p>
            <a:endParaRPr lang="en-US"/>
          </a:p>
        </p:txBody>
      </p:sp>
      <p:sp>
        <p:nvSpPr>
          <p:cNvPr id="126" name="Text 31">
            <a:extLst>
              <a:ext uri="{FF2B5EF4-FFF2-40B4-BE49-F238E27FC236}">
                <a16:creationId xmlns:a16="http://schemas.microsoft.com/office/drawing/2014/main" id="{316255F6-644A-F481-2F43-C27B7ED9159D}"/>
              </a:ext>
            </a:extLst>
          </p:cNvPr>
          <p:cNvSpPr/>
          <p:nvPr/>
        </p:nvSpPr>
        <p:spPr>
          <a:xfrm>
            <a:off x="4078224" y="2029968"/>
            <a:ext cx="2011680" cy="256032"/>
          </a:xfrm>
          <a:prstGeom prst="rect">
            <a:avLst/>
          </a:prstGeom>
          <a:noFill/>
          <a:ln/>
        </p:spPr>
        <p:txBody>
          <a:bodyPr wrap="square" rtlCol="0" anchor="ctr"/>
          <a:lstStyle/>
          <a:p>
            <a:pPr marL="0" indent="0">
              <a:buNone/>
            </a:pPr>
            <a:r>
              <a:rPr lang="en-US" sz="1000" b="1" dirty="0">
                <a:solidFill>
                  <a:srgbClr val="002A5E"/>
                </a:solidFill>
                <a:latin typeface="Calibri" pitchFamily="34" charset="0"/>
                <a:ea typeface="Calibri" pitchFamily="34" charset="-122"/>
                <a:cs typeface="Calibri" pitchFamily="34" charset="-120"/>
              </a:rPr>
              <a:t>Hampton run (TD)</a:t>
            </a:r>
            <a:endParaRPr lang="en-US" sz="1000" dirty="0"/>
          </a:p>
        </p:txBody>
      </p:sp>
      <p:sp>
        <p:nvSpPr>
          <p:cNvPr id="127" name="Text 32">
            <a:extLst>
              <a:ext uri="{FF2B5EF4-FFF2-40B4-BE49-F238E27FC236}">
                <a16:creationId xmlns:a16="http://schemas.microsoft.com/office/drawing/2014/main" id="{977A5816-03C8-8D42-6108-B4F78F7245FB}"/>
              </a:ext>
            </a:extLst>
          </p:cNvPr>
          <p:cNvSpPr/>
          <p:nvPr/>
        </p:nvSpPr>
        <p:spPr>
          <a:xfrm>
            <a:off x="4078224" y="2286000"/>
            <a:ext cx="2011680" cy="219456"/>
          </a:xfrm>
          <a:prstGeom prst="rect">
            <a:avLst/>
          </a:prstGeom>
          <a:noFill/>
          <a:ln/>
        </p:spPr>
        <p:txBody>
          <a:bodyPr wrap="square"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Wk 4 vs NYG · LAC 46-yd line · 1st &amp; 10</a:t>
            </a:r>
            <a:endParaRPr lang="en-US" sz="750" dirty="0"/>
          </a:p>
        </p:txBody>
      </p:sp>
      <p:sp>
        <p:nvSpPr>
          <p:cNvPr id="128" name="Text 33">
            <a:extLst>
              <a:ext uri="{FF2B5EF4-FFF2-40B4-BE49-F238E27FC236}">
                <a16:creationId xmlns:a16="http://schemas.microsoft.com/office/drawing/2014/main" id="{CFFF1E3A-297B-7D0C-0A78-4C685A9BE40F}"/>
              </a:ext>
            </a:extLst>
          </p:cNvPr>
          <p:cNvSpPr/>
          <p:nvPr/>
        </p:nvSpPr>
        <p:spPr>
          <a:xfrm>
            <a:off x="6181344" y="2121408"/>
            <a:ext cx="548640" cy="329184"/>
          </a:xfrm>
          <a:prstGeom prst="rect">
            <a:avLst/>
          </a:prstGeom>
          <a:noFill/>
          <a:ln/>
        </p:spPr>
        <p:txBody>
          <a:bodyPr wrap="square" rtlCol="0" anchor="ctr"/>
          <a:lstStyle/>
          <a:p>
            <a:pPr marL="0" indent="0" algn="ctr">
              <a:buNone/>
            </a:pPr>
            <a:r>
              <a:rPr lang="en-US" sz="1000" b="1" dirty="0">
                <a:solidFill>
                  <a:srgbClr val="002A5E"/>
                </a:solidFill>
                <a:latin typeface="Calibri" pitchFamily="34" charset="0"/>
                <a:ea typeface="Calibri" pitchFamily="34" charset="-122"/>
                <a:cs typeface="Calibri" pitchFamily="34" charset="-120"/>
              </a:rPr>
              <a:t>+54</a:t>
            </a:r>
            <a:endParaRPr lang="en-US" sz="1000" dirty="0"/>
          </a:p>
        </p:txBody>
      </p:sp>
      <p:sp>
        <p:nvSpPr>
          <p:cNvPr id="129" name="Text 34">
            <a:extLst>
              <a:ext uri="{FF2B5EF4-FFF2-40B4-BE49-F238E27FC236}">
                <a16:creationId xmlns:a16="http://schemas.microsoft.com/office/drawing/2014/main" id="{0C72326D-E857-DDF4-7BF2-0AE308B5EA42}"/>
              </a:ext>
            </a:extLst>
          </p:cNvPr>
          <p:cNvSpPr/>
          <p:nvPr/>
        </p:nvSpPr>
        <p:spPr>
          <a:xfrm>
            <a:off x="6766560" y="2121408"/>
            <a:ext cx="658368"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YES</a:t>
            </a:r>
            <a:endParaRPr lang="en-US" sz="1000" dirty="0"/>
          </a:p>
        </p:txBody>
      </p:sp>
      <p:sp>
        <p:nvSpPr>
          <p:cNvPr id="130" name="Text 35">
            <a:extLst>
              <a:ext uri="{FF2B5EF4-FFF2-40B4-BE49-F238E27FC236}">
                <a16:creationId xmlns:a16="http://schemas.microsoft.com/office/drawing/2014/main" id="{A48462AD-872B-F08E-007D-9830D256806C}"/>
              </a:ext>
            </a:extLst>
          </p:cNvPr>
          <p:cNvSpPr/>
          <p:nvPr/>
        </p:nvSpPr>
        <p:spPr>
          <a:xfrm>
            <a:off x="7461504" y="2121408"/>
            <a:ext cx="548640"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+4.51</a:t>
            </a:r>
            <a:endParaRPr lang="en-US" sz="1000" dirty="0"/>
          </a:p>
        </p:txBody>
      </p:sp>
      <p:sp>
        <p:nvSpPr>
          <p:cNvPr id="131" name="Text 36">
            <a:extLst>
              <a:ext uri="{FF2B5EF4-FFF2-40B4-BE49-F238E27FC236}">
                <a16:creationId xmlns:a16="http://schemas.microsoft.com/office/drawing/2014/main" id="{5A736D2A-C4CC-8BC8-78B5-284F4C35AC38}"/>
              </a:ext>
            </a:extLst>
          </p:cNvPr>
          <p:cNvSpPr/>
          <p:nvPr/>
        </p:nvSpPr>
        <p:spPr>
          <a:xfrm>
            <a:off x="8046720" y="2066544"/>
            <a:ext cx="841248" cy="438912"/>
          </a:xfrm>
          <a:prstGeom prst="rect">
            <a:avLst/>
          </a:prstGeom>
          <a:noFill/>
          <a:ln/>
        </p:spPr>
        <p:txBody>
          <a:bodyPr wrap="square"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All metrics agree:</a:t>
            </a:r>
            <a:endParaRPr lang="en-US" sz="750" dirty="0"/>
          </a:p>
          <a:p>
            <a:pPr marL="0" indent="0">
              <a:buNone/>
            </a:pPr>
            <a:r>
              <a:rPr lang="en-US" sz="750" i="1" dirty="0">
                <a:solidFill>
                  <a:srgbClr val="334155"/>
                </a:solidFill>
                <a:latin typeface="Calibri" pitchFamily="34" charset="0"/>
                <a:ea typeface="Calibri" pitchFamily="34" charset="-122"/>
                <a:cs typeface="Calibri" pitchFamily="34" charset="-120"/>
              </a:rPr>
              <a:t>explosive run</a:t>
            </a:r>
            <a:endParaRPr lang="en-US" sz="750" dirty="0"/>
          </a:p>
        </p:txBody>
      </p:sp>
      <p:sp>
        <p:nvSpPr>
          <p:cNvPr id="132" name="Shape 37">
            <a:extLst>
              <a:ext uri="{FF2B5EF4-FFF2-40B4-BE49-F238E27FC236}">
                <a16:creationId xmlns:a16="http://schemas.microsoft.com/office/drawing/2014/main" id="{28797048-08B2-073D-6BC6-CB67B0D4AFDD}"/>
              </a:ext>
            </a:extLst>
          </p:cNvPr>
          <p:cNvSpPr/>
          <p:nvPr/>
        </p:nvSpPr>
        <p:spPr>
          <a:xfrm>
            <a:off x="4005072" y="2596896"/>
            <a:ext cx="4937760" cy="585216"/>
          </a:xfrm>
          <a:prstGeom prst="rect">
            <a:avLst/>
          </a:prstGeom>
          <a:solidFill>
            <a:srgbClr val="FEE2E2"/>
          </a:solidFill>
          <a:ln w="12700">
            <a:solidFill>
              <a:srgbClr val="FFFFFF"/>
            </a:solidFill>
            <a:prstDash val="solid"/>
          </a:ln>
        </p:spPr>
        <p:txBody>
          <a:bodyPr/>
          <a:lstStyle/>
          <a:p>
            <a:endParaRPr lang="en-US" dirty="0"/>
          </a:p>
        </p:txBody>
      </p:sp>
      <p:sp>
        <p:nvSpPr>
          <p:cNvPr id="133" name="Text 38">
            <a:extLst>
              <a:ext uri="{FF2B5EF4-FFF2-40B4-BE49-F238E27FC236}">
                <a16:creationId xmlns:a16="http://schemas.microsoft.com/office/drawing/2014/main" id="{DF881C33-0347-A5C5-3E2A-95FDDD7734CD}"/>
              </a:ext>
            </a:extLst>
          </p:cNvPr>
          <p:cNvSpPr/>
          <p:nvPr/>
        </p:nvSpPr>
        <p:spPr>
          <a:xfrm>
            <a:off x="4078224" y="2651760"/>
            <a:ext cx="2011680" cy="256032"/>
          </a:xfrm>
          <a:prstGeom prst="rect">
            <a:avLst/>
          </a:prstGeom>
          <a:noFill/>
          <a:ln/>
        </p:spPr>
        <p:txBody>
          <a:bodyPr wrap="square" rtlCol="0" anchor="ctr"/>
          <a:lstStyle/>
          <a:p>
            <a:r>
              <a:rPr lang="en-US" sz="1000" b="1" dirty="0">
                <a:solidFill>
                  <a:srgbClr val="002A5E"/>
                </a:solidFill>
                <a:latin typeface="Calibri" pitchFamily="34" charset="0"/>
                <a:ea typeface="Calibri" pitchFamily="34" charset="-122"/>
                <a:cs typeface="Calibri" pitchFamily="34" charset="-120"/>
              </a:rPr>
              <a:t>Harris run (First Down)</a:t>
            </a:r>
            <a:endParaRPr lang="en-US" sz="1000" dirty="0"/>
          </a:p>
        </p:txBody>
      </p:sp>
      <p:sp>
        <p:nvSpPr>
          <p:cNvPr id="134" name="Text 39">
            <a:extLst>
              <a:ext uri="{FF2B5EF4-FFF2-40B4-BE49-F238E27FC236}">
                <a16:creationId xmlns:a16="http://schemas.microsoft.com/office/drawing/2014/main" id="{B000BDFA-5626-315A-4386-C7D2CC125234}"/>
              </a:ext>
            </a:extLst>
          </p:cNvPr>
          <p:cNvSpPr/>
          <p:nvPr/>
        </p:nvSpPr>
        <p:spPr>
          <a:xfrm>
            <a:off x="4078224" y="2907792"/>
            <a:ext cx="2011680" cy="219456"/>
          </a:xfrm>
          <a:prstGeom prst="rect">
            <a:avLst/>
          </a:prstGeom>
          <a:noFill/>
          <a:ln/>
        </p:spPr>
        <p:txBody>
          <a:bodyPr wrap="square"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Wk 2 vs LV · LAC 29-yd line · 2nd &amp; 1</a:t>
            </a:r>
            <a:endParaRPr lang="en-US" sz="750" dirty="0"/>
          </a:p>
        </p:txBody>
      </p:sp>
      <p:sp>
        <p:nvSpPr>
          <p:cNvPr id="135" name="Text 40">
            <a:extLst>
              <a:ext uri="{FF2B5EF4-FFF2-40B4-BE49-F238E27FC236}">
                <a16:creationId xmlns:a16="http://schemas.microsoft.com/office/drawing/2014/main" id="{CF06DC3A-86F3-0D4D-958F-81DD9B84565A}"/>
              </a:ext>
            </a:extLst>
          </p:cNvPr>
          <p:cNvSpPr/>
          <p:nvPr/>
        </p:nvSpPr>
        <p:spPr>
          <a:xfrm>
            <a:off x="6181344" y="2743200"/>
            <a:ext cx="548640" cy="329184"/>
          </a:xfrm>
          <a:prstGeom prst="rect">
            <a:avLst/>
          </a:prstGeom>
          <a:noFill/>
          <a:ln/>
        </p:spPr>
        <p:txBody>
          <a:bodyPr wrap="square" rtlCol="0" anchor="ctr"/>
          <a:lstStyle/>
          <a:p>
            <a:pPr marL="0" indent="0" algn="ctr">
              <a:buNone/>
            </a:pPr>
            <a:r>
              <a:rPr lang="en-US" sz="1000" b="1" dirty="0">
                <a:solidFill>
                  <a:srgbClr val="002A5E"/>
                </a:solidFill>
                <a:latin typeface="Calibri" pitchFamily="34" charset="0"/>
                <a:ea typeface="Calibri" pitchFamily="34" charset="-122"/>
                <a:cs typeface="Calibri" pitchFamily="34" charset="-120"/>
              </a:rPr>
              <a:t>+1</a:t>
            </a:r>
            <a:endParaRPr lang="en-US" sz="1000" dirty="0"/>
          </a:p>
        </p:txBody>
      </p:sp>
      <p:sp>
        <p:nvSpPr>
          <p:cNvPr id="136" name="Text 41">
            <a:extLst>
              <a:ext uri="{FF2B5EF4-FFF2-40B4-BE49-F238E27FC236}">
                <a16:creationId xmlns:a16="http://schemas.microsoft.com/office/drawing/2014/main" id="{4A34C4E6-442A-9D4F-6BE4-A5B2963C5471}"/>
              </a:ext>
            </a:extLst>
          </p:cNvPr>
          <p:cNvSpPr/>
          <p:nvPr/>
        </p:nvSpPr>
        <p:spPr>
          <a:xfrm>
            <a:off x="6766560" y="2743200"/>
            <a:ext cx="658368"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YES</a:t>
            </a:r>
            <a:endParaRPr lang="en-US" sz="1000" dirty="0"/>
          </a:p>
        </p:txBody>
      </p:sp>
      <p:sp>
        <p:nvSpPr>
          <p:cNvPr id="137" name="Text 42">
            <a:extLst>
              <a:ext uri="{FF2B5EF4-FFF2-40B4-BE49-F238E27FC236}">
                <a16:creationId xmlns:a16="http://schemas.microsoft.com/office/drawing/2014/main" id="{CDA70973-E553-6D1E-B945-1F93D11F1FB8}"/>
              </a:ext>
            </a:extLst>
          </p:cNvPr>
          <p:cNvSpPr/>
          <p:nvPr/>
        </p:nvSpPr>
        <p:spPr>
          <a:xfrm>
            <a:off x="7461504" y="2743200"/>
            <a:ext cx="548640" cy="329184"/>
          </a:xfrm>
          <a:prstGeom prst="rect">
            <a:avLst/>
          </a:prstGeom>
          <a:noFill/>
          <a:ln/>
        </p:spPr>
        <p:txBody>
          <a:bodyPr wrap="square"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−1.45</a:t>
            </a:r>
            <a:endParaRPr lang="en-US" sz="1000" dirty="0"/>
          </a:p>
        </p:txBody>
      </p:sp>
      <p:sp>
        <p:nvSpPr>
          <p:cNvPr id="138" name="Text 43">
            <a:extLst>
              <a:ext uri="{FF2B5EF4-FFF2-40B4-BE49-F238E27FC236}">
                <a16:creationId xmlns:a16="http://schemas.microsoft.com/office/drawing/2014/main" id="{43CD0DDA-1DCC-8081-63B7-5FF7E27E7899}"/>
              </a:ext>
            </a:extLst>
          </p:cNvPr>
          <p:cNvSpPr/>
          <p:nvPr/>
        </p:nvSpPr>
        <p:spPr>
          <a:xfrm>
            <a:off x="8046720" y="2688336"/>
            <a:ext cx="841248" cy="438912"/>
          </a:xfrm>
          <a:prstGeom prst="rect">
            <a:avLst/>
          </a:prstGeom>
          <a:noFill/>
          <a:ln/>
        </p:spPr>
        <p:txBody>
          <a:bodyPr wrap="square"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Success rate misses:</a:t>
            </a:r>
            <a:endParaRPr lang="en-US" sz="750" dirty="0"/>
          </a:p>
          <a:p>
            <a:pPr marL="0" indent="0">
              <a:buNone/>
            </a:pPr>
            <a:r>
              <a:rPr lang="en-US" sz="750" i="1" dirty="0">
                <a:solidFill>
                  <a:srgbClr val="334155"/>
                </a:solidFill>
                <a:latin typeface="Calibri" pitchFamily="34" charset="0"/>
                <a:ea typeface="Calibri" pitchFamily="34" charset="-122"/>
                <a:cs typeface="Calibri" pitchFamily="34" charset="-120"/>
              </a:rPr>
              <a:t>scoring prob. dropped</a:t>
            </a:r>
            <a:endParaRPr lang="en-US" sz="750" dirty="0"/>
          </a:p>
        </p:txBody>
      </p:sp>
      <p:sp>
        <p:nvSpPr>
          <p:cNvPr id="139" name="Shape 44">
            <a:extLst>
              <a:ext uri="{FF2B5EF4-FFF2-40B4-BE49-F238E27FC236}">
                <a16:creationId xmlns:a16="http://schemas.microsoft.com/office/drawing/2014/main" id="{20F67C58-B44C-84F2-E86E-9570CC057883}"/>
              </a:ext>
            </a:extLst>
          </p:cNvPr>
          <p:cNvSpPr/>
          <p:nvPr/>
        </p:nvSpPr>
        <p:spPr>
          <a:xfrm>
            <a:off x="4005072" y="3218688"/>
            <a:ext cx="4937760" cy="585216"/>
          </a:xfrm>
          <a:prstGeom prst="rect">
            <a:avLst/>
          </a:prstGeom>
          <a:solidFill>
            <a:srgbClr val="FFFBEB"/>
          </a:solidFill>
          <a:ln w="12700">
            <a:solidFill>
              <a:srgbClr val="FFFFFF"/>
            </a:solidFill>
            <a:prstDash val="solid"/>
          </a:ln>
        </p:spPr>
        <p:txBody>
          <a:bodyPr/>
          <a:lstStyle/>
          <a:p>
            <a:endParaRPr lang="en-US" dirty="0"/>
          </a:p>
        </p:txBody>
      </p:sp>
      <p:sp>
        <p:nvSpPr>
          <p:cNvPr id="140" name="Text 45">
            <a:extLst>
              <a:ext uri="{FF2B5EF4-FFF2-40B4-BE49-F238E27FC236}">
                <a16:creationId xmlns:a16="http://schemas.microsoft.com/office/drawing/2014/main" id="{1D4DDC9E-AFDC-0C65-EEDC-5C7E03F6EBE7}"/>
              </a:ext>
            </a:extLst>
          </p:cNvPr>
          <p:cNvSpPr/>
          <p:nvPr/>
        </p:nvSpPr>
        <p:spPr>
          <a:xfrm>
            <a:off x="4078224" y="3273552"/>
            <a:ext cx="2011680" cy="256032"/>
          </a:xfrm>
          <a:prstGeom prst="rect">
            <a:avLst/>
          </a:prstGeom>
          <a:noFill/>
          <a:ln/>
        </p:spPr>
        <p:txBody>
          <a:bodyPr wrap="square" rtlCol="0" anchor="ctr"/>
          <a:lstStyle/>
          <a:p>
            <a:pPr marL="0" indent="0">
              <a:buNone/>
            </a:pPr>
            <a:r>
              <a:rPr lang="en-US" sz="1000" b="1" dirty="0">
                <a:solidFill>
                  <a:srgbClr val="002A5E"/>
                </a:solidFill>
                <a:latin typeface="Calibri" pitchFamily="34" charset="0"/>
                <a:ea typeface="Calibri" pitchFamily="34" charset="-122"/>
                <a:cs typeface="Calibri" pitchFamily="34" charset="-120"/>
              </a:rPr>
              <a:t>Herbert run (First Down)</a:t>
            </a:r>
            <a:endParaRPr lang="en-US" sz="1000" dirty="0"/>
          </a:p>
        </p:txBody>
      </p:sp>
      <p:sp>
        <p:nvSpPr>
          <p:cNvPr id="141" name="Text 46">
            <a:extLst>
              <a:ext uri="{FF2B5EF4-FFF2-40B4-BE49-F238E27FC236}">
                <a16:creationId xmlns:a16="http://schemas.microsoft.com/office/drawing/2014/main" id="{CB4C5110-FB06-F3E0-2458-776D571BACCC}"/>
              </a:ext>
            </a:extLst>
          </p:cNvPr>
          <p:cNvSpPr/>
          <p:nvPr/>
        </p:nvSpPr>
        <p:spPr>
          <a:xfrm>
            <a:off x="4078224" y="3529584"/>
            <a:ext cx="2011680" cy="219456"/>
          </a:xfrm>
          <a:prstGeom prst="rect">
            <a:avLst/>
          </a:prstGeom>
          <a:noFill/>
          <a:ln/>
        </p:spPr>
        <p:txBody>
          <a:bodyPr wrap="square"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Wk 7 vs IND · LAC 43-yd line · 3rd &amp; 1</a:t>
            </a:r>
            <a:endParaRPr lang="en-US" sz="750" dirty="0"/>
          </a:p>
        </p:txBody>
      </p:sp>
      <p:sp>
        <p:nvSpPr>
          <p:cNvPr id="142" name="Text 47">
            <a:extLst>
              <a:ext uri="{FF2B5EF4-FFF2-40B4-BE49-F238E27FC236}">
                <a16:creationId xmlns:a16="http://schemas.microsoft.com/office/drawing/2014/main" id="{6D40D9BC-C785-7458-6EC0-D827EECAC9C1}"/>
              </a:ext>
            </a:extLst>
          </p:cNvPr>
          <p:cNvSpPr/>
          <p:nvPr/>
        </p:nvSpPr>
        <p:spPr>
          <a:xfrm>
            <a:off x="6181344" y="3364992"/>
            <a:ext cx="548640" cy="329184"/>
          </a:xfrm>
          <a:prstGeom prst="rect">
            <a:avLst/>
          </a:prstGeom>
          <a:noFill/>
          <a:ln/>
        </p:spPr>
        <p:txBody>
          <a:bodyPr wrap="square" rtlCol="0" anchor="ctr"/>
          <a:lstStyle/>
          <a:p>
            <a:pPr marL="0" indent="0" algn="ctr">
              <a:buNone/>
            </a:pPr>
            <a:r>
              <a:rPr lang="en-US" sz="1000" b="1" dirty="0">
                <a:solidFill>
                  <a:srgbClr val="002A5E"/>
                </a:solidFill>
                <a:latin typeface="Calibri" pitchFamily="34" charset="0"/>
                <a:ea typeface="Calibri" pitchFamily="34" charset="-122"/>
                <a:cs typeface="Calibri" pitchFamily="34" charset="-120"/>
              </a:rPr>
              <a:t>+4</a:t>
            </a:r>
            <a:endParaRPr lang="en-US" sz="1000" dirty="0"/>
          </a:p>
        </p:txBody>
      </p:sp>
      <p:sp>
        <p:nvSpPr>
          <p:cNvPr id="143" name="Text 48">
            <a:extLst>
              <a:ext uri="{FF2B5EF4-FFF2-40B4-BE49-F238E27FC236}">
                <a16:creationId xmlns:a16="http://schemas.microsoft.com/office/drawing/2014/main" id="{4839BF3E-FBCE-FD55-D249-65EEB5398528}"/>
              </a:ext>
            </a:extLst>
          </p:cNvPr>
          <p:cNvSpPr/>
          <p:nvPr/>
        </p:nvSpPr>
        <p:spPr>
          <a:xfrm>
            <a:off x="6766560" y="3364992"/>
            <a:ext cx="658368" cy="329184"/>
          </a:xfrm>
          <a:prstGeom prst="rect">
            <a:avLst/>
          </a:prstGeom>
          <a:noFill/>
          <a:ln/>
        </p:spPr>
        <p:txBody>
          <a:bodyPr wrap="square"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YES</a:t>
            </a:r>
            <a:endParaRPr lang="en-US" sz="1000" dirty="0"/>
          </a:p>
        </p:txBody>
      </p:sp>
      <p:sp>
        <p:nvSpPr>
          <p:cNvPr id="144" name="Text 49">
            <a:extLst>
              <a:ext uri="{FF2B5EF4-FFF2-40B4-BE49-F238E27FC236}">
                <a16:creationId xmlns:a16="http://schemas.microsoft.com/office/drawing/2014/main" id="{4B31684F-6EEE-6673-CF72-5E4B59C01138}"/>
              </a:ext>
            </a:extLst>
          </p:cNvPr>
          <p:cNvSpPr/>
          <p:nvPr/>
        </p:nvSpPr>
        <p:spPr>
          <a:xfrm>
            <a:off x="7461504" y="3364992"/>
            <a:ext cx="548640" cy="329184"/>
          </a:xfrm>
          <a:prstGeom prst="rect">
            <a:avLst/>
          </a:prstGeom>
          <a:noFill/>
          <a:ln/>
        </p:spPr>
        <p:txBody>
          <a:bodyPr wrap="square"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−2.18</a:t>
            </a:r>
            <a:endParaRPr lang="en-US" sz="1000" dirty="0"/>
          </a:p>
        </p:txBody>
      </p:sp>
      <p:sp>
        <p:nvSpPr>
          <p:cNvPr id="145" name="Text 50">
            <a:extLst>
              <a:ext uri="{FF2B5EF4-FFF2-40B4-BE49-F238E27FC236}">
                <a16:creationId xmlns:a16="http://schemas.microsoft.com/office/drawing/2014/main" id="{A416448E-3E8F-8EC3-E8DF-4A9FA5F49333}"/>
              </a:ext>
            </a:extLst>
          </p:cNvPr>
          <p:cNvSpPr/>
          <p:nvPr/>
        </p:nvSpPr>
        <p:spPr>
          <a:xfrm>
            <a:off x="8046720" y="3310128"/>
            <a:ext cx="841248" cy="438912"/>
          </a:xfrm>
          <a:prstGeom prst="rect">
            <a:avLst/>
          </a:prstGeom>
          <a:noFill/>
          <a:ln/>
        </p:spPr>
        <p:txBody>
          <a:bodyPr wrap="square"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Converted but</a:t>
            </a:r>
            <a:endParaRPr lang="en-US" sz="750" dirty="0"/>
          </a:p>
          <a:p>
            <a:pPr marL="0" indent="0">
              <a:buNone/>
            </a:pPr>
            <a:r>
              <a:rPr lang="en-US" sz="750" i="1" dirty="0">
                <a:solidFill>
                  <a:srgbClr val="334155"/>
                </a:solidFill>
                <a:latin typeface="Calibri" pitchFamily="34" charset="0"/>
                <a:ea typeface="Calibri" pitchFamily="34" charset="-122"/>
                <a:cs typeface="Calibri" pitchFamily="34" charset="-120"/>
              </a:rPr>
              <a:t>EPA still negative</a:t>
            </a:r>
            <a:endParaRPr lang="en-US" sz="750" dirty="0"/>
          </a:p>
        </p:txBody>
      </p:sp>
      <p:sp>
        <p:nvSpPr>
          <p:cNvPr id="146" name="Text 52">
            <a:extLst>
              <a:ext uri="{FF2B5EF4-FFF2-40B4-BE49-F238E27FC236}">
                <a16:creationId xmlns:a16="http://schemas.microsoft.com/office/drawing/2014/main" id="{122DB31A-37BA-15A2-A4CD-8439ED287DD9}"/>
              </a:ext>
            </a:extLst>
          </p:cNvPr>
          <p:cNvSpPr/>
          <p:nvPr/>
        </p:nvSpPr>
        <p:spPr>
          <a:xfrm>
            <a:off x="4078224" y="3895344"/>
            <a:ext cx="2011680" cy="256032"/>
          </a:xfrm>
          <a:prstGeom prst="rect">
            <a:avLst/>
          </a:prstGeom>
          <a:noFill/>
          <a:ln/>
        </p:spPr>
        <p:txBody>
          <a:bodyPr wrap="square" rtlCol="0" anchor="ctr"/>
          <a:lstStyle/>
          <a:p>
            <a:pPr marL="0" indent="0">
              <a:buNone/>
            </a:pPr>
            <a:r>
              <a:rPr lang="en-US" sz="1000" b="1" dirty="0">
                <a:solidFill>
                  <a:srgbClr val="002A5E"/>
                </a:solidFill>
                <a:latin typeface="Calibri" pitchFamily="34" charset="0"/>
                <a:ea typeface="Calibri" pitchFamily="34" charset="-122"/>
                <a:cs typeface="Calibri" pitchFamily="34" charset="-120"/>
              </a:rPr>
              <a:t>Lance pass (INT)</a:t>
            </a:r>
            <a:endParaRPr lang="en-US" sz="1000" dirty="0"/>
          </a:p>
        </p:txBody>
      </p:sp>
      <p:sp>
        <p:nvSpPr>
          <p:cNvPr id="147" name="Text 53">
            <a:extLst>
              <a:ext uri="{FF2B5EF4-FFF2-40B4-BE49-F238E27FC236}">
                <a16:creationId xmlns:a16="http://schemas.microsoft.com/office/drawing/2014/main" id="{46BF0E9D-1EC1-7310-FB5F-94117445A786}"/>
              </a:ext>
            </a:extLst>
          </p:cNvPr>
          <p:cNvSpPr/>
          <p:nvPr/>
        </p:nvSpPr>
        <p:spPr>
          <a:xfrm>
            <a:off x="4078224" y="4151376"/>
            <a:ext cx="2011680" cy="219456"/>
          </a:xfrm>
          <a:prstGeom prst="rect">
            <a:avLst/>
          </a:prstGeom>
          <a:noFill/>
          <a:ln/>
        </p:spPr>
        <p:txBody>
          <a:bodyPr wrap="square"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Wk 18 vs DEN · LAC 40-yd line · 3rd &amp; 5</a:t>
            </a:r>
            <a:endParaRPr lang="en-US" sz="750" dirty="0"/>
          </a:p>
        </p:txBody>
      </p:sp>
      <p:sp>
        <p:nvSpPr>
          <p:cNvPr id="148" name="Text 54">
            <a:extLst>
              <a:ext uri="{FF2B5EF4-FFF2-40B4-BE49-F238E27FC236}">
                <a16:creationId xmlns:a16="http://schemas.microsoft.com/office/drawing/2014/main" id="{5BA29E23-A4FD-899D-B137-C1B59E2EB819}"/>
              </a:ext>
            </a:extLst>
          </p:cNvPr>
          <p:cNvSpPr/>
          <p:nvPr/>
        </p:nvSpPr>
        <p:spPr>
          <a:xfrm>
            <a:off x="6181344" y="3986784"/>
            <a:ext cx="548640" cy="329184"/>
          </a:xfrm>
          <a:prstGeom prst="rect">
            <a:avLst/>
          </a:prstGeom>
          <a:noFill/>
          <a:ln/>
        </p:spPr>
        <p:txBody>
          <a:bodyPr wrap="square" rtlCol="0" anchor="ctr"/>
          <a:lstStyle/>
          <a:p>
            <a:pPr marL="0" indent="0" algn="ctr">
              <a:buNone/>
            </a:pPr>
            <a:r>
              <a:rPr lang="en-US" sz="1000" b="1" dirty="0">
                <a:solidFill>
                  <a:srgbClr val="002A5E"/>
                </a:solidFill>
                <a:latin typeface="Calibri" pitchFamily="34" charset="0"/>
                <a:ea typeface="Calibri" pitchFamily="34" charset="-122"/>
                <a:cs typeface="Calibri" pitchFamily="34" charset="-120"/>
              </a:rPr>
              <a:t>0</a:t>
            </a:r>
            <a:endParaRPr lang="en-US" sz="1000" dirty="0"/>
          </a:p>
        </p:txBody>
      </p:sp>
      <p:sp>
        <p:nvSpPr>
          <p:cNvPr id="149" name="Text 55">
            <a:extLst>
              <a:ext uri="{FF2B5EF4-FFF2-40B4-BE49-F238E27FC236}">
                <a16:creationId xmlns:a16="http://schemas.microsoft.com/office/drawing/2014/main" id="{9272A01D-E174-E830-9775-8D43D7C6313F}"/>
              </a:ext>
            </a:extLst>
          </p:cNvPr>
          <p:cNvSpPr/>
          <p:nvPr/>
        </p:nvSpPr>
        <p:spPr>
          <a:xfrm>
            <a:off x="6766560" y="3986784"/>
            <a:ext cx="658368" cy="329184"/>
          </a:xfrm>
          <a:prstGeom prst="rect">
            <a:avLst/>
          </a:prstGeom>
          <a:noFill/>
          <a:ln/>
        </p:spPr>
        <p:txBody>
          <a:bodyPr wrap="square"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NO</a:t>
            </a:r>
            <a:endParaRPr lang="en-US" sz="1000" dirty="0"/>
          </a:p>
        </p:txBody>
      </p:sp>
      <p:sp>
        <p:nvSpPr>
          <p:cNvPr id="150" name="Text 56">
            <a:extLst>
              <a:ext uri="{FF2B5EF4-FFF2-40B4-BE49-F238E27FC236}">
                <a16:creationId xmlns:a16="http://schemas.microsoft.com/office/drawing/2014/main" id="{1C0523E0-8C6B-4032-8DD1-D3A86714244C}"/>
              </a:ext>
            </a:extLst>
          </p:cNvPr>
          <p:cNvSpPr/>
          <p:nvPr/>
        </p:nvSpPr>
        <p:spPr>
          <a:xfrm>
            <a:off x="7461504" y="3986784"/>
            <a:ext cx="548640" cy="329184"/>
          </a:xfrm>
          <a:prstGeom prst="rect">
            <a:avLst/>
          </a:prstGeom>
          <a:noFill/>
          <a:ln/>
        </p:spPr>
        <p:txBody>
          <a:bodyPr wrap="square"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−7.42</a:t>
            </a:r>
            <a:endParaRPr lang="en-US" sz="1000" dirty="0"/>
          </a:p>
        </p:txBody>
      </p:sp>
      <p:sp>
        <p:nvSpPr>
          <p:cNvPr id="151" name="Text 57">
            <a:extLst>
              <a:ext uri="{FF2B5EF4-FFF2-40B4-BE49-F238E27FC236}">
                <a16:creationId xmlns:a16="http://schemas.microsoft.com/office/drawing/2014/main" id="{4B34F745-BD9D-64AB-6923-AAE0AE6BA24E}"/>
              </a:ext>
            </a:extLst>
          </p:cNvPr>
          <p:cNvSpPr/>
          <p:nvPr/>
        </p:nvSpPr>
        <p:spPr>
          <a:xfrm>
            <a:off x="8046720" y="3931920"/>
            <a:ext cx="841248" cy="438912"/>
          </a:xfrm>
          <a:prstGeom prst="rect">
            <a:avLst/>
          </a:prstGeom>
          <a:noFill/>
          <a:ln/>
        </p:spPr>
        <p:txBody>
          <a:bodyPr wrap="square" rtlCol="0" anchor="ctr"/>
          <a:lstStyle/>
          <a:p>
            <a:pPr marL="0" indent="0">
              <a:buNone/>
            </a:pPr>
            <a:r>
              <a:rPr lang="en-US" sz="750" i="1" dirty="0">
                <a:solidFill>
                  <a:srgbClr val="334155"/>
                </a:solidFill>
                <a:latin typeface="Calibri" pitchFamily="34" charset="0"/>
                <a:ea typeface="Calibri" pitchFamily="34" charset="-122"/>
                <a:cs typeface="Calibri" pitchFamily="34" charset="-120"/>
              </a:rPr>
              <a:t>All metrics agree:</a:t>
            </a:r>
            <a:endParaRPr lang="en-US" sz="750" dirty="0"/>
          </a:p>
          <a:p>
            <a:pPr marL="0" indent="0">
              <a:buNone/>
            </a:pPr>
            <a:r>
              <a:rPr lang="en-US" sz="750" i="1" dirty="0">
                <a:solidFill>
                  <a:srgbClr val="334155"/>
                </a:solidFill>
                <a:latin typeface="Calibri" pitchFamily="34" charset="0"/>
                <a:ea typeface="Calibri" pitchFamily="34" charset="-122"/>
                <a:cs typeface="Calibri" pitchFamily="34" charset="-120"/>
              </a:rPr>
              <a:t>catastrophic</a:t>
            </a:r>
            <a:endParaRPr lang="en-US" sz="750" dirty="0"/>
          </a:p>
        </p:txBody>
      </p:sp>
      <p:sp>
        <p:nvSpPr>
          <p:cNvPr id="158" name="Rectangle 6">
            <a:extLst>
              <a:ext uri="{FF2B5EF4-FFF2-40B4-BE49-F238E27FC236}">
                <a16:creationId xmlns:a16="http://schemas.microsoft.com/office/drawing/2014/main" id="{61F4FC32-2D12-744D-8DA7-FB3970E2941B}"/>
              </a:ext>
            </a:extLst>
          </p:cNvPr>
          <p:cNvSpPr>
            <a:spLocks noChangeArrowheads="1"/>
          </p:cNvSpPr>
          <p:nvPr/>
        </p:nvSpPr>
        <p:spPr bwMode="auto">
          <a:xfrm>
            <a:off x="280416" y="2182877"/>
            <a:ext cx="338328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80C6"/>
                </a:solidFill>
                <a:effectLst/>
                <a:latin typeface="Arial" panose="020B0604020202020204" pitchFamily="34" charset="0"/>
              </a:rPr>
              <a:t>My model </a:t>
            </a:r>
            <a:r>
              <a:rPr lang="en-US" altLang="en-US" sz="1000" b="1" dirty="0">
                <a:solidFill>
                  <a:srgbClr val="0080C6"/>
                </a:solidFill>
              </a:rPr>
              <a:t>considers more detailed context in the calculation of </a:t>
            </a:r>
            <a:r>
              <a:rPr kumimoji="0" lang="en-US" altLang="en-US" sz="1000" b="1" i="0" u="none" strike="noStrike" cap="none" normalizeH="0" baseline="0" dirty="0">
                <a:ln>
                  <a:noFill/>
                </a:ln>
                <a:solidFill>
                  <a:srgbClr val="0080C6"/>
                </a:solidFill>
                <a:effectLst/>
                <a:latin typeface="Arial" panose="020B0604020202020204" pitchFamily="34" charset="0"/>
              </a:rPr>
              <a:t>EPA by adjusting for: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rgbClr val="0080C6"/>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rgbClr val="0080C6"/>
                </a:solidFill>
                <a:effectLst/>
                <a:latin typeface="Arial" panose="020B0604020202020204" pitchFamily="34" charset="0"/>
              </a:rPr>
              <a:t> Score differential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rgbClr val="0080C6"/>
                </a:solidFill>
                <a:effectLst/>
                <a:latin typeface="Arial" panose="020B0604020202020204" pitchFamily="34" charset="0"/>
              </a:rPr>
              <a:t> Opponent defensive strength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rgbClr val="0080C6"/>
                </a:solidFill>
                <a:effectLst/>
                <a:latin typeface="Arial" panose="020B0604020202020204" pitchFamily="34" charset="0"/>
              </a:rPr>
              <a:t> Game state (“garbage time” removed)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0C6"/>
          </a:solidFill>
          <a:ln w="12700">
            <a:solidFill>
              <a:srgbClr val="0080C6"/>
            </a:solidFill>
            <a:prstDash val="solid"/>
          </a:ln>
        </p:spPr>
        <p:txBody>
          <a:bodyPr/>
          <a:lstStyle/>
          <a:p>
            <a:endParaRPr lang="en-US"/>
          </a:p>
        </p:txBody>
      </p:sp>
      <p:sp>
        <p:nvSpPr>
          <p:cNvPr id="3" name="Shape 1"/>
          <p:cNvSpPr/>
          <p:nvPr/>
        </p:nvSpPr>
        <p:spPr>
          <a:xfrm>
            <a:off x="0" y="54864"/>
            <a:ext cx="54864" cy="822960"/>
          </a:xfrm>
          <a:prstGeom prst="rect">
            <a:avLst/>
          </a:prstGeom>
          <a:solidFill>
            <a:srgbClr val="FFC20E"/>
          </a:solidFill>
          <a:ln w="12700">
            <a:solidFill>
              <a:srgbClr val="FFC20E"/>
            </a:solidFill>
            <a:prstDash val="solid"/>
          </a:ln>
        </p:spPr>
        <p:txBody>
          <a:bodyPr/>
          <a:lstStyle/>
          <a:p>
            <a:endParaRPr lang="en-US"/>
          </a:p>
        </p:txBody>
      </p:sp>
      <p:sp>
        <p:nvSpPr>
          <p:cNvPr id="4" name="Text 2"/>
          <p:cNvSpPr/>
          <p:nvPr/>
        </p:nvSpPr>
        <p:spPr>
          <a:xfrm>
            <a:off x="201168" y="91440"/>
            <a:ext cx="8686800" cy="438912"/>
          </a:xfrm>
          <a:prstGeom prst="rect">
            <a:avLst/>
          </a:prstGeom>
          <a:noFill/>
          <a:ln/>
        </p:spPr>
        <p:txBody>
          <a:bodyPr wrap="square" rtlCol="0" anchor="ctr"/>
          <a:lstStyle/>
          <a:p>
            <a:pPr marL="0" indent="0">
              <a:buNone/>
            </a:pPr>
            <a:r>
              <a:rPr lang="en-US" sz="2200" b="1" dirty="0">
                <a:solidFill>
                  <a:srgbClr val="0080C6"/>
                </a:solidFill>
                <a:latin typeface="Calibri" pitchFamily="34" charset="0"/>
                <a:ea typeface="Calibri" pitchFamily="34" charset="-122"/>
                <a:cs typeface="Calibri" pitchFamily="34" charset="-120"/>
              </a:rPr>
              <a:t>What the Data Shows on 2nd &amp; Short</a:t>
            </a:r>
            <a:endParaRPr lang="en-US" sz="2200" dirty="0"/>
          </a:p>
        </p:txBody>
      </p:sp>
      <p:sp>
        <p:nvSpPr>
          <p:cNvPr id="5" name="Text 3"/>
          <p:cNvSpPr/>
          <p:nvPr/>
        </p:nvSpPr>
        <p:spPr>
          <a:xfrm>
            <a:off x="201168" y="512064"/>
            <a:ext cx="8686800" cy="18288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2025 NFL Season</a:t>
            </a:r>
            <a:endParaRPr lang="en-US" sz="900" dirty="0"/>
          </a:p>
        </p:txBody>
      </p:sp>
      <p:sp>
        <p:nvSpPr>
          <p:cNvPr id="7" name="Text 5"/>
          <p:cNvSpPr/>
          <p:nvPr/>
        </p:nvSpPr>
        <p:spPr>
          <a:xfrm>
            <a:off x="201168" y="1060703"/>
            <a:ext cx="4023360" cy="256032"/>
          </a:xfrm>
          <a:prstGeom prst="rect">
            <a:avLst/>
          </a:prstGeom>
          <a:noFill/>
          <a:ln/>
        </p:spPr>
        <p:txBody>
          <a:bodyPr wrap="square" rtlCol="0" anchor="ctr"/>
          <a:lstStyle/>
          <a:p>
            <a:pPr marL="0" indent="0">
              <a:buNone/>
            </a:pPr>
            <a:r>
              <a:rPr lang="en-US" sz="1100" b="1" dirty="0">
                <a:latin typeface="Calibri" pitchFamily="34" charset="0"/>
                <a:ea typeface="Calibri" pitchFamily="34" charset="-122"/>
                <a:cs typeface="Calibri" pitchFamily="34" charset="-120"/>
              </a:rPr>
              <a:t>Context-Adjusted EPA by Situation</a:t>
            </a:r>
            <a:endParaRPr lang="en-US" sz="1100" dirty="0"/>
          </a:p>
        </p:txBody>
      </p:sp>
      <p:sp>
        <p:nvSpPr>
          <p:cNvPr id="8" name="Text 6"/>
          <p:cNvSpPr/>
          <p:nvPr/>
        </p:nvSpPr>
        <p:spPr>
          <a:xfrm>
            <a:off x="274320" y="1133856"/>
            <a:ext cx="4023360" cy="182880"/>
          </a:xfrm>
          <a:prstGeom prst="rect">
            <a:avLst/>
          </a:prstGeom>
          <a:noFill/>
          <a:ln/>
        </p:spPr>
        <p:txBody>
          <a:bodyPr wrap="square" rtlCol="0" anchor="ctr"/>
          <a:lstStyle/>
          <a:p>
            <a:pPr marL="0" indent="0">
              <a:buNone/>
            </a:pPr>
            <a:endParaRPr lang="en-US" sz="850" dirty="0"/>
          </a:p>
        </p:txBody>
      </p:sp>
      <p:sp>
        <p:nvSpPr>
          <p:cNvPr id="9" name="Shape 7"/>
          <p:cNvSpPr/>
          <p:nvPr/>
        </p:nvSpPr>
        <p:spPr>
          <a:xfrm>
            <a:off x="274320" y="1335024"/>
            <a:ext cx="1417320" cy="292608"/>
          </a:xfrm>
          <a:prstGeom prst="rect">
            <a:avLst/>
          </a:prstGeom>
          <a:solidFill>
            <a:srgbClr val="0080C6"/>
          </a:solidFill>
          <a:ln w="19050">
            <a:solidFill>
              <a:srgbClr val="FFFFFF"/>
            </a:solidFill>
            <a:prstDash val="solid"/>
          </a:ln>
        </p:spPr>
        <p:txBody>
          <a:bodyPr/>
          <a:lstStyle/>
          <a:p>
            <a:r>
              <a:rPr lang="en-US" sz="100" b="1" dirty="0">
                <a:solidFill>
                  <a:srgbClr val="FFFFFF"/>
                </a:solidFill>
                <a:latin typeface="Calibri" pitchFamily="34" charset="0"/>
                <a:ea typeface="Calibri" pitchFamily="34" charset="-122"/>
                <a:cs typeface="Calibri" pitchFamily="34" charset="-120"/>
              </a:rPr>
              <a:t>            </a:t>
            </a:r>
          </a:p>
          <a:p>
            <a:r>
              <a:rPr lang="en-US" sz="1000" b="1" dirty="0">
                <a:solidFill>
                  <a:srgbClr val="FFFFFF"/>
                </a:solidFill>
                <a:latin typeface="Calibri" pitchFamily="34" charset="0"/>
                <a:ea typeface="Calibri" pitchFamily="34" charset="-122"/>
                <a:cs typeface="Calibri" pitchFamily="34" charset="-120"/>
              </a:rPr>
              <a:t>             Situation</a:t>
            </a:r>
            <a:endParaRPr lang="en-US" sz="1000" dirty="0"/>
          </a:p>
          <a:p>
            <a:endParaRPr lang="en-US" sz="950" dirty="0"/>
          </a:p>
        </p:txBody>
      </p:sp>
      <p:sp>
        <p:nvSpPr>
          <p:cNvPr id="10" name="Text 8"/>
          <p:cNvSpPr/>
          <p:nvPr/>
        </p:nvSpPr>
        <p:spPr>
          <a:xfrm>
            <a:off x="310896" y="1335024"/>
            <a:ext cx="1344168" cy="292608"/>
          </a:xfrm>
          <a:prstGeom prst="rect">
            <a:avLst/>
          </a:prstGeom>
          <a:noFill/>
          <a:ln/>
        </p:spPr>
        <p:txBody>
          <a:bodyPr wrap="square" rtlCol="0" anchor="ctr"/>
          <a:lstStyle/>
          <a:p>
            <a:pPr marL="0" indent="0" algn="ctr">
              <a:buNone/>
            </a:pPr>
            <a:endParaRPr lang="en-US" sz="950" dirty="0"/>
          </a:p>
        </p:txBody>
      </p:sp>
      <p:sp>
        <p:nvSpPr>
          <p:cNvPr id="11" name="Shape 9"/>
          <p:cNvSpPr/>
          <p:nvPr/>
        </p:nvSpPr>
        <p:spPr>
          <a:xfrm>
            <a:off x="1691640" y="1335024"/>
            <a:ext cx="914400" cy="292608"/>
          </a:xfrm>
          <a:prstGeom prst="rect">
            <a:avLst/>
          </a:prstGeom>
          <a:solidFill>
            <a:srgbClr val="0080C6"/>
          </a:solidFill>
          <a:ln w="19050">
            <a:solidFill>
              <a:srgbClr val="FFFFFF"/>
            </a:solidFill>
            <a:prstDash val="solid"/>
          </a:ln>
        </p:spPr>
        <p:txBody>
          <a:bodyPr/>
          <a:lstStyle/>
          <a:p>
            <a:endParaRPr lang="en-US" dirty="0"/>
          </a:p>
        </p:txBody>
      </p:sp>
      <p:sp>
        <p:nvSpPr>
          <p:cNvPr id="12" name="Text 10"/>
          <p:cNvSpPr/>
          <p:nvPr/>
        </p:nvSpPr>
        <p:spPr>
          <a:xfrm>
            <a:off x="1728216" y="1335024"/>
            <a:ext cx="841248"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Run</a:t>
            </a:r>
            <a:endParaRPr lang="en-US" sz="950" dirty="0"/>
          </a:p>
        </p:txBody>
      </p:sp>
      <p:sp>
        <p:nvSpPr>
          <p:cNvPr id="13" name="Shape 11"/>
          <p:cNvSpPr/>
          <p:nvPr/>
        </p:nvSpPr>
        <p:spPr>
          <a:xfrm>
            <a:off x="2606040" y="1335024"/>
            <a:ext cx="1005840" cy="292608"/>
          </a:xfrm>
          <a:prstGeom prst="rect">
            <a:avLst/>
          </a:prstGeom>
          <a:solidFill>
            <a:srgbClr val="0080C6"/>
          </a:solidFill>
          <a:ln w="19050">
            <a:solidFill>
              <a:srgbClr val="FFFFFF"/>
            </a:solidFill>
            <a:prstDash val="solid"/>
          </a:ln>
        </p:spPr>
        <p:txBody>
          <a:bodyPr/>
          <a:lstStyle/>
          <a:p>
            <a:endParaRPr lang="en-US"/>
          </a:p>
        </p:txBody>
      </p:sp>
      <p:sp>
        <p:nvSpPr>
          <p:cNvPr id="14" name="Text 12"/>
          <p:cNvSpPr/>
          <p:nvPr/>
        </p:nvSpPr>
        <p:spPr>
          <a:xfrm>
            <a:off x="2642616" y="1335024"/>
            <a:ext cx="932688"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Short Pass</a:t>
            </a:r>
            <a:endParaRPr lang="en-US" sz="950" dirty="0"/>
          </a:p>
        </p:txBody>
      </p:sp>
      <p:sp>
        <p:nvSpPr>
          <p:cNvPr id="15" name="Shape 13"/>
          <p:cNvSpPr/>
          <p:nvPr/>
        </p:nvSpPr>
        <p:spPr>
          <a:xfrm>
            <a:off x="3611880" y="1335024"/>
            <a:ext cx="914400" cy="292608"/>
          </a:xfrm>
          <a:prstGeom prst="rect">
            <a:avLst/>
          </a:prstGeom>
          <a:solidFill>
            <a:srgbClr val="0080C6"/>
          </a:solidFill>
          <a:ln w="19050">
            <a:solidFill>
              <a:srgbClr val="FFFFFF"/>
            </a:solidFill>
            <a:prstDash val="solid"/>
          </a:ln>
        </p:spPr>
        <p:txBody>
          <a:bodyPr/>
          <a:lstStyle/>
          <a:p>
            <a:endParaRPr lang="en-US"/>
          </a:p>
        </p:txBody>
      </p:sp>
      <p:sp>
        <p:nvSpPr>
          <p:cNvPr id="16" name="Text 14"/>
          <p:cNvSpPr/>
          <p:nvPr/>
        </p:nvSpPr>
        <p:spPr>
          <a:xfrm>
            <a:off x="3648456" y="1335024"/>
            <a:ext cx="841248" cy="292608"/>
          </a:xfrm>
          <a:prstGeom prst="rect">
            <a:avLst/>
          </a:prstGeom>
          <a:noFill/>
          <a:ln/>
        </p:spPr>
        <p:txBody>
          <a:bodyPr wrap="square" rtlCol="0" anchor="ctr"/>
          <a:lstStyle/>
          <a:p>
            <a:pPr marL="0" indent="0" algn="ctr">
              <a:buNone/>
            </a:pPr>
            <a:r>
              <a:rPr lang="en-US" sz="950" b="1" dirty="0">
                <a:solidFill>
                  <a:srgbClr val="FFC20E"/>
                </a:solidFill>
                <a:latin typeface="Calibri" pitchFamily="34" charset="0"/>
                <a:ea typeface="Calibri" pitchFamily="34" charset="-122"/>
                <a:cs typeface="Calibri" pitchFamily="34" charset="-120"/>
              </a:rPr>
              <a:t>Deep Shot</a:t>
            </a:r>
            <a:endParaRPr lang="en-US" sz="950" dirty="0"/>
          </a:p>
        </p:txBody>
      </p:sp>
      <p:sp>
        <p:nvSpPr>
          <p:cNvPr id="17" name="Shape 15"/>
          <p:cNvSpPr/>
          <p:nvPr/>
        </p:nvSpPr>
        <p:spPr>
          <a:xfrm>
            <a:off x="274320" y="1627632"/>
            <a:ext cx="1417320" cy="365760"/>
          </a:xfrm>
          <a:prstGeom prst="rect">
            <a:avLst/>
          </a:prstGeom>
          <a:solidFill>
            <a:srgbClr val="0080C6"/>
          </a:solidFill>
          <a:ln w="19050">
            <a:solidFill>
              <a:srgbClr val="FFFFFF"/>
            </a:solidFill>
            <a:prstDash val="solid"/>
          </a:ln>
        </p:spPr>
        <p:txBody>
          <a:bodyPr/>
          <a:lstStyle/>
          <a:p>
            <a:endParaRPr lang="en-US"/>
          </a:p>
        </p:txBody>
      </p:sp>
      <p:sp>
        <p:nvSpPr>
          <p:cNvPr id="18" name="Text 16"/>
          <p:cNvSpPr/>
          <p:nvPr/>
        </p:nvSpPr>
        <p:spPr>
          <a:xfrm>
            <a:off x="384048" y="1627632"/>
            <a:ext cx="1271016" cy="36576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2nd &amp; 1</a:t>
            </a:r>
            <a:endParaRPr lang="en-US" sz="1000" dirty="0"/>
          </a:p>
        </p:txBody>
      </p:sp>
      <p:sp>
        <p:nvSpPr>
          <p:cNvPr id="19" name="Shape 17"/>
          <p:cNvSpPr/>
          <p:nvPr/>
        </p:nvSpPr>
        <p:spPr>
          <a:xfrm>
            <a:off x="1691640" y="1627632"/>
            <a:ext cx="914400" cy="365760"/>
          </a:xfrm>
          <a:prstGeom prst="rect">
            <a:avLst/>
          </a:prstGeom>
          <a:solidFill>
            <a:srgbClr val="F4F8FB"/>
          </a:solidFill>
          <a:ln w="19050">
            <a:solidFill>
              <a:srgbClr val="FFFFFF"/>
            </a:solidFill>
            <a:prstDash val="solid"/>
          </a:ln>
        </p:spPr>
        <p:txBody>
          <a:bodyPr/>
          <a:lstStyle/>
          <a:p>
            <a:endParaRPr lang="en-US"/>
          </a:p>
        </p:txBody>
      </p:sp>
      <p:sp>
        <p:nvSpPr>
          <p:cNvPr id="20" name="Text 18"/>
          <p:cNvSpPr/>
          <p:nvPr/>
        </p:nvSpPr>
        <p:spPr>
          <a:xfrm>
            <a:off x="1728216" y="1627632"/>
            <a:ext cx="84124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0.078</a:t>
            </a:r>
            <a:endParaRPr lang="en-US" sz="1100" dirty="0"/>
          </a:p>
        </p:txBody>
      </p:sp>
      <p:sp>
        <p:nvSpPr>
          <p:cNvPr id="21" name="Shape 19"/>
          <p:cNvSpPr/>
          <p:nvPr/>
        </p:nvSpPr>
        <p:spPr>
          <a:xfrm>
            <a:off x="2606040" y="1627632"/>
            <a:ext cx="1005840" cy="365760"/>
          </a:xfrm>
          <a:prstGeom prst="rect">
            <a:avLst/>
          </a:prstGeom>
          <a:solidFill>
            <a:srgbClr val="FEE2E2"/>
          </a:solidFill>
          <a:ln w="19050">
            <a:solidFill>
              <a:srgbClr val="FFFFFF"/>
            </a:solidFill>
            <a:prstDash val="solid"/>
          </a:ln>
        </p:spPr>
        <p:txBody>
          <a:bodyPr/>
          <a:lstStyle/>
          <a:p>
            <a:endParaRPr lang="en-US"/>
          </a:p>
        </p:txBody>
      </p:sp>
      <p:sp>
        <p:nvSpPr>
          <p:cNvPr id="22" name="Text 20"/>
          <p:cNvSpPr/>
          <p:nvPr/>
        </p:nvSpPr>
        <p:spPr>
          <a:xfrm>
            <a:off x="2642616" y="1627632"/>
            <a:ext cx="932688" cy="365760"/>
          </a:xfrm>
          <a:prstGeom prst="rect">
            <a:avLst/>
          </a:prstGeom>
          <a:noFill/>
          <a:ln/>
        </p:spPr>
        <p:txBody>
          <a:bodyPr wrap="square" rtlCol="0" anchor="ctr"/>
          <a:lstStyle/>
          <a:p>
            <a:pPr marL="0" indent="0" algn="ctr">
              <a:buNone/>
            </a:pPr>
            <a:r>
              <a:rPr lang="en-US" sz="1100" dirty="0">
                <a:solidFill>
                  <a:srgbClr val="DC2626"/>
                </a:solidFill>
                <a:latin typeface="Calibri" pitchFamily="34" charset="0"/>
                <a:ea typeface="Calibri" pitchFamily="34" charset="-122"/>
                <a:cs typeface="Calibri" pitchFamily="34" charset="-120"/>
              </a:rPr>
              <a:t>−0.160</a:t>
            </a:r>
            <a:endParaRPr lang="en-US" sz="1100" dirty="0"/>
          </a:p>
        </p:txBody>
      </p:sp>
      <p:sp>
        <p:nvSpPr>
          <p:cNvPr id="23" name="Shape 21"/>
          <p:cNvSpPr/>
          <p:nvPr/>
        </p:nvSpPr>
        <p:spPr>
          <a:xfrm>
            <a:off x="3611880" y="1627632"/>
            <a:ext cx="914400" cy="365760"/>
          </a:xfrm>
          <a:prstGeom prst="rect">
            <a:avLst/>
          </a:prstGeom>
          <a:solidFill>
            <a:srgbClr val="F4F8FB"/>
          </a:solidFill>
          <a:ln w="19050">
            <a:solidFill>
              <a:srgbClr val="FFFFFF"/>
            </a:solidFill>
            <a:prstDash val="solid"/>
          </a:ln>
        </p:spPr>
        <p:txBody>
          <a:bodyPr/>
          <a:lstStyle/>
          <a:p>
            <a:endParaRPr lang="en-US"/>
          </a:p>
        </p:txBody>
      </p:sp>
      <p:sp>
        <p:nvSpPr>
          <p:cNvPr id="24" name="Text 22"/>
          <p:cNvSpPr/>
          <p:nvPr/>
        </p:nvSpPr>
        <p:spPr>
          <a:xfrm>
            <a:off x="3648456" y="1627632"/>
            <a:ext cx="841248" cy="365760"/>
          </a:xfrm>
          <a:prstGeom prst="rect">
            <a:avLst/>
          </a:prstGeom>
          <a:noFill/>
          <a:ln/>
        </p:spPr>
        <p:txBody>
          <a:bodyPr wrap="square"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0.067</a:t>
            </a:r>
            <a:endParaRPr lang="en-US" sz="1200" dirty="0"/>
          </a:p>
        </p:txBody>
      </p:sp>
      <p:sp>
        <p:nvSpPr>
          <p:cNvPr id="25" name="Shape 23"/>
          <p:cNvSpPr/>
          <p:nvPr/>
        </p:nvSpPr>
        <p:spPr>
          <a:xfrm>
            <a:off x="274320" y="2011680"/>
            <a:ext cx="1417320" cy="365760"/>
          </a:xfrm>
          <a:prstGeom prst="rect">
            <a:avLst/>
          </a:prstGeom>
          <a:solidFill>
            <a:srgbClr val="0080C6"/>
          </a:solidFill>
          <a:ln w="19050">
            <a:solidFill>
              <a:srgbClr val="FFFFFF"/>
            </a:solidFill>
            <a:prstDash val="solid"/>
          </a:ln>
        </p:spPr>
        <p:txBody>
          <a:bodyPr/>
          <a:lstStyle/>
          <a:p>
            <a:endParaRPr lang="en-US"/>
          </a:p>
        </p:txBody>
      </p:sp>
      <p:sp>
        <p:nvSpPr>
          <p:cNvPr id="26" name="Text 24"/>
          <p:cNvSpPr/>
          <p:nvPr/>
        </p:nvSpPr>
        <p:spPr>
          <a:xfrm>
            <a:off x="384048" y="2011680"/>
            <a:ext cx="1271016" cy="36576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2nd &amp; 2</a:t>
            </a:r>
            <a:endParaRPr lang="en-US" sz="1000" dirty="0"/>
          </a:p>
        </p:txBody>
      </p:sp>
      <p:sp>
        <p:nvSpPr>
          <p:cNvPr id="27" name="Shape 25"/>
          <p:cNvSpPr/>
          <p:nvPr/>
        </p:nvSpPr>
        <p:spPr>
          <a:xfrm>
            <a:off x="1691640" y="2011680"/>
            <a:ext cx="914400" cy="365760"/>
          </a:xfrm>
          <a:prstGeom prst="rect">
            <a:avLst/>
          </a:prstGeom>
          <a:solidFill>
            <a:srgbClr val="F4F8FB"/>
          </a:solidFill>
          <a:ln w="19050">
            <a:solidFill>
              <a:srgbClr val="FFFFFF"/>
            </a:solidFill>
            <a:prstDash val="solid"/>
          </a:ln>
        </p:spPr>
        <p:txBody>
          <a:bodyPr/>
          <a:lstStyle/>
          <a:p>
            <a:endParaRPr lang="en-US"/>
          </a:p>
        </p:txBody>
      </p:sp>
      <p:sp>
        <p:nvSpPr>
          <p:cNvPr id="28" name="Text 26"/>
          <p:cNvSpPr/>
          <p:nvPr/>
        </p:nvSpPr>
        <p:spPr>
          <a:xfrm>
            <a:off x="1728216" y="2011680"/>
            <a:ext cx="84124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0.065</a:t>
            </a:r>
            <a:endParaRPr lang="en-US" sz="1100" dirty="0"/>
          </a:p>
        </p:txBody>
      </p:sp>
      <p:sp>
        <p:nvSpPr>
          <p:cNvPr id="29" name="Shape 27"/>
          <p:cNvSpPr/>
          <p:nvPr/>
        </p:nvSpPr>
        <p:spPr>
          <a:xfrm>
            <a:off x="2606040" y="2011680"/>
            <a:ext cx="1005840" cy="365760"/>
          </a:xfrm>
          <a:prstGeom prst="rect">
            <a:avLst/>
          </a:prstGeom>
          <a:solidFill>
            <a:srgbClr val="FEE2E2"/>
          </a:solidFill>
          <a:ln w="19050">
            <a:solidFill>
              <a:srgbClr val="FFFFFF"/>
            </a:solidFill>
            <a:prstDash val="solid"/>
          </a:ln>
        </p:spPr>
        <p:txBody>
          <a:bodyPr/>
          <a:lstStyle/>
          <a:p>
            <a:endParaRPr lang="en-US"/>
          </a:p>
        </p:txBody>
      </p:sp>
      <p:sp>
        <p:nvSpPr>
          <p:cNvPr id="30" name="Text 28"/>
          <p:cNvSpPr/>
          <p:nvPr/>
        </p:nvSpPr>
        <p:spPr>
          <a:xfrm>
            <a:off x="2642616" y="2011680"/>
            <a:ext cx="932688" cy="365760"/>
          </a:xfrm>
          <a:prstGeom prst="rect">
            <a:avLst/>
          </a:prstGeom>
          <a:noFill/>
          <a:ln/>
        </p:spPr>
        <p:txBody>
          <a:bodyPr wrap="square" rtlCol="0" anchor="ctr"/>
          <a:lstStyle/>
          <a:p>
            <a:pPr marL="0" indent="0" algn="ctr">
              <a:buNone/>
            </a:pPr>
            <a:r>
              <a:rPr lang="en-US" sz="1100" dirty="0">
                <a:solidFill>
                  <a:srgbClr val="DC2626"/>
                </a:solidFill>
                <a:latin typeface="Calibri" pitchFamily="34" charset="0"/>
                <a:ea typeface="Calibri" pitchFamily="34" charset="-122"/>
                <a:cs typeface="Calibri" pitchFamily="34" charset="-120"/>
              </a:rPr>
              <a:t>−0.173</a:t>
            </a:r>
            <a:endParaRPr lang="en-US" sz="1100" dirty="0"/>
          </a:p>
        </p:txBody>
      </p:sp>
      <p:sp>
        <p:nvSpPr>
          <p:cNvPr id="31" name="Shape 29"/>
          <p:cNvSpPr/>
          <p:nvPr/>
        </p:nvSpPr>
        <p:spPr>
          <a:xfrm>
            <a:off x="3611880" y="2011680"/>
            <a:ext cx="914400" cy="365760"/>
          </a:xfrm>
          <a:prstGeom prst="rect">
            <a:avLst/>
          </a:prstGeom>
          <a:solidFill>
            <a:srgbClr val="FFC20E"/>
          </a:solidFill>
          <a:ln w="19050">
            <a:solidFill>
              <a:srgbClr val="FFFFFF"/>
            </a:solidFill>
            <a:prstDash val="solid"/>
          </a:ln>
        </p:spPr>
        <p:txBody>
          <a:bodyPr/>
          <a:lstStyle/>
          <a:p>
            <a:endParaRPr lang="en-US"/>
          </a:p>
        </p:txBody>
      </p:sp>
      <p:sp>
        <p:nvSpPr>
          <p:cNvPr id="32" name="Text 30"/>
          <p:cNvSpPr/>
          <p:nvPr/>
        </p:nvSpPr>
        <p:spPr>
          <a:xfrm>
            <a:off x="3648456" y="2011680"/>
            <a:ext cx="841248" cy="365760"/>
          </a:xfrm>
          <a:prstGeom prst="rect">
            <a:avLst/>
          </a:prstGeom>
          <a:noFill/>
          <a:ln/>
        </p:spPr>
        <p:txBody>
          <a:bodyPr wrap="square" rtlCol="0" anchor="ctr"/>
          <a:lstStyle/>
          <a:p>
            <a:pPr marL="0" indent="0" algn="ctr">
              <a:buNone/>
            </a:pPr>
            <a:r>
              <a:rPr lang="en-US" sz="1200" b="1" dirty="0">
                <a:solidFill>
                  <a:srgbClr val="002A5E"/>
                </a:solidFill>
                <a:latin typeface="Calibri" pitchFamily="34" charset="0"/>
                <a:ea typeface="Calibri" pitchFamily="34" charset="-122"/>
                <a:cs typeface="Calibri" pitchFamily="34" charset="-120"/>
              </a:rPr>
              <a:t>0.728</a:t>
            </a:r>
            <a:endParaRPr lang="en-US" sz="1200" dirty="0"/>
          </a:p>
        </p:txBody>
      </p:sp>
      <p:sp>
        <p:nvSpPr>
          <p:cNvPr id="33" name="Shape 31"/>
          <p:cNvSpPr/>
          <p:nvPr/>
        </p:nvSpPr>
        <p:spPr>
          <a:xfrm>
            <a:off x="274320" y="2395728"/>
            <a:ext cx="1417320" cy="365760"/>
          </a:xfrm>
          <a:prstGeom prst="rect">
            <a:avLst/>
          </a:prstGeom>
          <a:solidFill>
            <a:srgbClr val="0080C6"/>
          </a:solidFill>
          <a:ln w="19050">
            <a:solidFill>
              <a:srgbClr val="FFFFFF"/>
            </a:solidFill>
            <a:prstDash val="solid"/>
          </a:ln>
        </p:spPr>
        <p:txBody>
          <a:bodyPr/>
          <a:lstStyle/>
          <a:p>
            <a:endParaRPr lang="en-US"/>
          </a:p>
        </p:txBody>
      </p:sp>
      <p:sp>
        <p:nvSpPr>
          <p:cNvPr id="34" name="Text 32"/>
          <p:cNvSpPr/>
          <p:nvPr/>
        </p:nvSpPr>
        <p:spPr>
          <a:xfrm>
            <a:off x="384048" y="2395728"/>
            <a:ext cx="1271016" cy="36576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2nd &amp; 3</a:t>
            </a:r>
            <a:endParaRPr lang="en-US" sz="1000" dirty="0"/>
          </a:p>
        </p:txBody>
      </p:sp>
      <p:sp>
        <p:nvSpPr>
          <p:cNvPr id="35" name="Shape 33"/>
          <p:cNvSpPr/>
          <p:nvPr/>
        </p:nvSpPr>
        <p:spPr>
          <a:xfrm>
            <a:off x="1691640" y="2395728"/>
            <a:ext cx="914400" cy="365760"/>
          </a:xfrm>
          <a:prstGeom prst="rect">
            <a:avLst/>
          </a:prstGeom>
          <a:solidFill>
            <a:srgbClr val="F4F8FB"/>
          </a:solidFill>
          <a:ln w="19050">
            <a:solidFill>
              <a:srgbClr val="FFFFFF"/>
            </a:solidFill>
            <a:prstDash val="solid"/>
          </a:ln>
        </p:spPr>
        <p:txBody>
          <a:bodyPr/>
          <a:lstStyle/>
          <a:p>
            <a:endParaRPr lang="en-US"/>
          </a:p>
        </p:txBody>
      </p:sp>
      <p:sp>
        <p:nvSpPr>
          <p:cNvPr id="36" name="Text 34"/>
          <p:cNvSpPr/>
          <p:nvPr/>
        </p:nvSpPr>
        <p:spPr>
          <a:xfrm>
            <a:off x="1728216" y="2395728"/>
            <a:ext cx="84124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0.092</a:t>
            </a:r>
            <a:endParaRPr lang="en-US" sz="1100" dirty="0"/>
          </a:p>
        </p:txBody>
      </p:sp>
      <p:sp>
        <p:nvSpPr>
          <p:cNvPr id="37" name="Shape 35"/>
          <p:cNvSpPr/>
          <p:nvPr/>
        </p:nvSpPr>
        <p:spPr>
          <a:xfrm>
            <a:off x="2606040" y="2395728"/>
            <a:ext cx="1005840" cy="365760"/>
          </a:xfrm>
          <a:prstGeom prst="rect">
            <a:avLst/>
          </a:prstGeom>
          <a:solidFill>
            <a:srgbClr val="FEE2E2"/>
          </a:solidFill>
          <a:ln w="19050">
            <a:solidFill>
              <a:srgbClr val="FFFFFF"/>
            </a:solidFill>
            <a:prstDash val="solid"/>
          </a:ln>
        </p:spPr>
        <p:txBody>
          <a:bodyPr/>
          <a:lstStyle/>
          <a:p>
            <a:endParaRPr lang="en-US"/>
          </a:p>
        </p:txBody>
      </p:sp>
      <p:sp>
        <p:nvSpPr>
          <p:cNvPr id="38" name="Text 36"/>
          <p:cNvSpPr/>
          <p:nvPr/>
        </p:nvSpPr>
        <p:spPr>
          <a:xfrm>
            <a:off x="2642616" y="2395728"/>
            <a:ext cx="932688" cy="365760"/>
          </a:xfrm>
          <a:prstGeom prst="rect">
            <a:avLst/>
          </a:prstGeom>
          <a:noFill/>
          <a:ln/>
        </p:spPr>
        <p:txBody>
          <a:bodyPr wrap="square" rtlCol="0" anchor="ctr"/>
          <a:lstStyle/>
          <a:p>
            <a:pPr marL="0" indent="0" algn="ctr">
              <a:buNone/>
            </a:pPr>
            <a:r>
              <a:rPr lang="en-US" sz="1100" dirty="0">
                <a:solidFill>
                  <a:srgbClr val="DC2626"/>
                </a:solidFill>
                <a:latin typeface="Calibri" pitchFamily="34" charset="0"/>
                <a:ea typeface="Calibri" pitchFamily="34" charset="-122"/>
                <a:cs typeface="Calibri" pitchFamily="34" charset="-120"/>
              </a:rPr>
              <a:t>0.009</a:t>
            </a:r>
            <a:endParaRPr lang="en-US" sz="1100" dirty="0"/>
          </a:p>
        </p:txBody>
      </p:sp>
      <p:sp>
        <p:nvSpPr>
          <p:cNvPr id="39" name="Shape 37"/>
          <p:cNvSpPr/>
          <p:nvPr/>
        </p:nvSpPr>
        <p:spPr>
          <a:xfrm>
            <a:off x="3611880" y="2395728"/>
            <a:ext cx="914400" cy="365760"/>
          </a:xfrm>
          <a:prstGeom prst="rect">
            <a:avLst/>
          </a:prstGeom>
          <a:solidFill>
            <a:srgbClr val="DCFCE7"/>
          </a:solidFill>
          <a:ln w="19050">
            <a:solidFill>
              <a:srgbClr val="FFFFFF"/>
            </a:solidFill>
            <a:prstDash val="solid"/>
          </a:ln>
        </p:spPr>
        <p:txBody>
          <a:bodyPr/>
          <a:lstStyle/>
          <a:p>
            <a:endParaRPr lang="en-US"/>
          </a:p>
        </p:txBody>
      </p:sp>
      <p:sp>
        <p:nvSpPr>
          <p:cNvPr id="40" name="Text 38"/>
          <p:cNvSpPr/>
          <p:nvPr/>
        </p:nvSpPr>
        <p:spPr>
          <a:xfrm>
            <a:off x="3648456" y="2395728"/>
            <a:ext cx="841248" cy="365760"/>
          </a:xfrm>
          <a:prstGeom prst="rect">
            <a:avLst/>
          </a:prstGeom>
          <a:noFill/>
          <a:ln/>
        </p:spPr>
        <p:txBody>
          <a:bodyPr wrap="square" rtlCol="0" anchor="ctr"/>
          <a:lstStyle/>
          <a:p>
            <a:pPr marL="0" indent="0" algn="ctr">
              <a:buNone/>
            </a:pPr>
            <a:r>
              <a:rPr lang="en-US" sz="1200" dirty="0">
                <a:solidFill>
                  <a:srgbClr val="16A34A"/>
                </a:solidFill>
                <a:latin typeface="Calibri" pitchFamily="34" charset="0"/>
                <a:ea typeface="Calibri" pitchFamily="34" charset="-122"/>
                <a:cs typeface="Calibri" pitchFamily="34" charset="-120"/>
              </a:rPr>
              <a:t>0.174</a:t>
            </a:r>
            <a:endParaRPr lang="en-US" sz="1200" dirty="0"/>
          </a:p>
        </p:txBody>
      </p:sp>
      <p:sp>
        <p:nvSpPr>
          <p:cNvPr id="43" name="Text 41"/>
          <p:cNvSpPr/>
          <p:nvPr/>
        </p:nvSpPr>
        <p:spPr>
          <a:xfrm>
            <a:off x="4690872" y="1060703"/>
            <a:ext cx="4023360" cy="256032"/>
          </a:xfrm>
          <a:prstGeom prst="rect">
            <a:avLst/>
          </a:prstGeom>
          <a:noFill/>
          <a:ln/>
        </p:spPr>
        <p:txBody>
          <a:bodyPr wrap="square" rtlCol="0" anchor="ctr"/>
          <a:lstStyle/>
          <a:p>
            <a:r>
              <a:rPr lang="en-US" sz="1100" b="1" dirty="0">
                <a:latin typeface="Calibri" pitchFamily="34" charset="0"/>
                <a:ea typeface="Calibri" pitchFamily="34" charset="-122"/>
                <a:cs typeface="Calibri" pitchFamily="34" charset="-120"/>
              </a:rPr>
              <a:t>2025 LAC Play Call Tendencies on 2nd &amp; Short</a:t>
            </a:r>
            <a:endParaRPr lang="en-US" sz="1100" dirty="0"/>
          </a:p>
        </p:txBody>
      </p:sp>
      <p:sp>
        <p:nvSpPr>
          <p:cNvPr id="44" name="Text 42"/>
          <p:cNvSpPr/>
          <p:nvPr/>
        </p:nvSpPr>
        <p:spPr>
          <a:xfrm>
            <a:off x="4690872" y="1133856"/>
            <a:ext cx="4023360" cy="182880"/>
          </a:xfrm>
          <a:prstGeom prst="rect">
            <a:avLst/>
          </a:prstGeom>
          <a:noFill/>
          <a:ln/>
        </p:spPr>
        <p:txBody>
          <a:bodyPr wrap="square" rtlCol="0" anchor="ctr"/>
          <a:lstStyle/>
          <a:p>
            <a:pPr marL="0" indent="0">
              <a:buNone/>
            </a:pPr>
            <a:endParaRPr lang="en-US" sz="850" dirty="0"/>
          </a:p>
        </p:txBody>
      </p:sp>
      <p:sp>
        <p:nvSpPr>
          <p:cNvPr id="45" name="Shape 43"/>
          <p:cNvSpPr/>
          <p:nvPr/>
        </p:nvSpPr>
        <p:spPr>
          <a:xfrm>
            <a:off x="4690872" y="1335024"/>
            <a:ext cx="1417320" cy="292608"/>
          </a:xfrm>
          <a:prstGeom prst="rect">
            <a:avLst/>
          </a:prstGeom>
          <a:solidFill>
            <a:srgbClr val="0080C6"/>
          </a:solidFill>
          <a:ln w="19050">
            <a:solidFill>
              <a:srgbClr val="FFFFFF"/>
            </a:solidFill>
            <a:prstDash val="solid"/>
          </a:ln>
        </p:spPr>
        <p:txBody>
          <a:bodyPr/>
          <a:lstStyle/>
          <a:p>
            <a:endParaRPr lang="en-US"/>
          </a:p>
        </p:txBody>
      </p:sp>
      <p:sp>
        <p:nvSpPr>
          <p:cNvPr id="46" name="Text 44"/>
          <p:cNvSpPr/>
          <p:nvPr/>
        </p:nvSpPr>
        <p:spPr>
          <a:xfrm>
            <a:off x="4727448" y="1335024"/>
            <a:ext cx="1344168"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Situation</a:t>
            </a:r>
            <a:endParaRPr lang="en-US" sz="950" dirty="0"/>
          </a:p>
        </p:txBody>
      </p:sp>
      <p:sp>
        <p:nvSpPr>
          <p:cNvPr id="47" name="Shape 45"/>
          <p:cNvSpPr/>
          <p:nvPr/>
        </p:nvSpPr>
        <p:spPr>
          <a:xfrm>
            <a:off x="6108192" y="1335024"/>
            <a:ext cx="914400" cy="292608"/>
          </a:xfrm>
          <a:prstGeom prst="rect">
            <a:avLst/>
          </a:prstGeom>
          <a:solidFill>
            <a:srgbClr val="0080C6"/>
          </a:solidFill>
          <a:ln w="19050">
            <a:solidFill>
              <a:srgbClr val="FFFFFF"/>
            </a:solidFill>
            <a:prstDash val="solid"/>
          </a:ln>
        </p:spPr>
        <p:txBody>
          <a:bodyPr/>
          <a:lstStyle/>
          <a:p>
            <a:endParaRPr lang="en-US"/>
          </a:p>
        </p:txBody>
      </p:sp>
      <p:sp>
        <p:nvSpPr>
          <p:cNvPr id="48" name="Text 46"/>
          <p:cNvSpPr/>
          <p:nvPr/>
        </p:nvSpPr>
        <p:spPr>
          <a:xfrm>
            <a:off x="6144768" y="1335024"/>
            <a:ext cx="841248"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Run</a:t>
            </a:r>
            <a:endParaRPr lang="en-US" sz="950" dirty="0"/>
          </a:p>
        </p:txBody>
      </p:sp>
      <p:sp>
        <p:nvSpPr>
          <p:cNvPr id="49" name="Shape 47"/>
          <p:cNvSpPr/>
          <p:nvPr/>
        </p:nvSpPr>
        <p:spPr>
          <a:xfrm>
            <a:off x="7022592" y="1335024"/>
            <a:ext cx="1005840" cy="292608"/>
          </a:xfrm>
          <a:prstGeom prst="rect">
            <a:avLst/>
          </a:prstGeom>
          <a:solidFill>
            <a:srgbClr val="0080C6"/>
          </a:solidFill>
          <a:ln w="19050">
            <a:solidFill>
              <a:srgbClr val="FFFFFF"/>
            </a:solidFill>
            <a:prstDash val="solid"/>
          </a:ln>
        </p:spPr>
        <p:txBody>
          <a:bodyPr/>
          <a:lstStyle/>
          <a:p>
            <a:endParaRPr lang="en-US"/>
          </a:p>
        </p:txBody>
      </p:sp>
      <p:sp>
        <p:nvSpPr>
          <p:cNvPr id="50" name="Text 48"/>
          <p:cNvSpPr/>
          <p:nvPr/>
        </p:nvSpPr>
        <p:spPr>
          <a:xfrm>
            <a:off x="7059168" y="1335024"/>
            <a:ext cx="932688"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Short Pass</a:t>
            </a:r>
            <a:endParaRPr lang="en-US" sz="950" dirty="0"/>
          </a:p>
        </p:txBody>
      </p:sp>
      <p:sp>
        <p:nvSpPr>
          <p:cNvPr id="51" name="Shape 49"/>
          <p:cNvSpPr/>
          <p:nvPr/>
        </p:nvSpPr>
        <p:spPr>
          <a:xfrm>
            <a:off x="8028432" y="1335024"/>
            <a:ext cx="914400" cy="292608"/>
          </a:xfrm>
          <a:prstGeom prst="rect">
            <a:avLst/>
          </a:prstGeom>
          <a:solidFill>
            <a:srgbClr val="0080C6"/>
          </a:solidFill>
          <a:ln w="19050">
            <a:solidFill>
              <a:srgbClr val="FFFFFF"/>
            </a:solidFill>
            <a:prstDash val="solid"/>
          </a:ln>
        </p:spPr>
        <p:txBody>
          <a:bodyPr/>
          <a:lstStyle/>
          <a:p>
            <a:endParaRPr lang="en-US"/>
          </a:p>
        </p:txBody>
      </p:sp>
      <p:sp>
        <p:nvSpPr>
          <p:cNvPr id="52" name="Text 50"/>
          <p:cNvSpPr/>
          <p:nvPr/>
        </p:nvSpPr>
        <p:spPr>
          <a:xfrm>
            <a:off x="8065008" y="1335024"/>
            <a:ext cx="841248" cy="292608"/>
          </a:xfrm>
          <a:prstGeom prst="rect">
            <a:avLst/>
          </a:prstGeom>
          <a:noFill/>
          <a:ln/>
        </p:spPr>
        <p:txBody>
          <a:bodyPr wrap="square" rtlCol="0" anchor="ctr"/>
          <a:lstStyle/>
          <a:p>
            <a:pPr marL="0" indent="0" algn="ctr">
              <a:buNone/>
            </a:pPr>
            <a:r>
              <a:rPr lang="en-US" sz="950" b="1" dirty="0">
                <a:solidFill>
                  <a:srgbClr val="FFC20E"/>
                </a:solidFill>
                <a:latin typeface="Calibri" pitchFamily="34" charset="0"/>
                <a:ea typeface="Calibri" pitchFamily="34" charset="-122"/>
                <a:cs typeface="Calibri" pitchFamily="34" charset="-120"/>
              </a:rPr>
              <a:t>Deep Shot</a:t>
            </a:r>
            <a:endParaRPr lang="en-US" sz="950" dirty="0"/>
          </a:p>
        </p:txBody>
      </p:sp>
      <p:sp>
        <p:nvSpPr>
          <p:cNvPr id="53" name="Shape 51"/>
          <p:cNvSpPr/>
          <p:nvPr/>
        </p:nvSpPr>
        <p:spPr>
          <a:xfrm>
            <a:off x="4690872" y="1627632"/>
            <a:ext cx="1417320" cy="365760"/>
          </a:xfrm>
          <a:prstGeom prst="rect">
            <a:avLst/>
          </a:prstGeom>
          <a:solidFill>
            <a:srgbClr val="F4F8FB"/>
          </a:solidFill>
          <a:ln w="19050">
            <a:solidFill>
              <a:srgbClr val="FFFFFF"/>
            </a:solidFill>
            <a:prstDash val="solid"/>
          </a:ln>
        </p:spPr>
        <p:txBody>
          <a:bodyPr/>
          <a:lstStyle/>
          <a:p>
            <a:endParaRPr lang="en-US"/>
          </a:p>
        </p:txBody>
      </p:sp>
      <p:sp>
        <p:nvSpPr>
          <p:cNvPr id="54" name="Text 52"/>
          <p:cNvSpPr/>
          <p:nvPr/>
        </p:nvSpPr>
        <p:spPr>
          <a:xfrm>
            <a:off x="4800600" y="1627632"/>
            <a:ext cx="1271016" cy="365760"/>
          </a:xfrm>
          <a:prstGeom prst="rect">
            <a:avLst/>
          </a:prstGeom>
          <a:noFill/>
          <a:ln/>
        </p:spPr>
        <p:txBody>
          <a:bodyPr wrap="square" rtlCol="0" anchor="ctr"/>
          <a:lstStyle/>
          <a:p>
            <a:pPr marL="0" indent="0" algn="l">
              <a:buNone/>
            </a:pPr>
            <a:r>
              <a:rPr lang="en-US" sz="1000" b="1" dirty="0">
                <a:solidFill>
                  <a:srgbClr val="334155"/>
                </a:solidFill>
                <a:latin typeface="Calibri" pitchFamily="34" charset="0"/>
                <a:ea typeface="Calibri" pitchFamily="34" charset="-122"/>
                <a:cs typeface="Calibri" pitchFamily="34" charset="-120"/>
              </a:rPr>
              <a:t>2nd &amp; 1  (n=11)</a:t>
            </a:r>
            <a:endParaRPr lang="en-US" sz="1000" dirty="0"/>
          </a:p>
        </p:txBody>
      </p:sp>
      <p:sp>
        <p:nvSpPr>
          <p:cNvPr id="55" name="Shape 53"/>
          <p:cNvSpPr/>
          <p:nvPr/>
        </p:nvSpPr>
        <p:spPr>
          <a:xfrm>
            <a:off x="6108192" y="1627632"/>
            <a:ext cx="914400" cy="365760"/>
          </a:xfrm>
          <a:prstGeom prst="rect">
            <a:avLst/>
          </a:prstGeom>
          <a:solidFill>
            <a:srgbClr val="F4F8FB"/>
          </a:solidFill>
          <a:ln w="19050">
            <a:solidFill>
              <a:srgbClr val="FFFFFF"/>
            </a:solidFill>
            <a:prstDash val="solid"/>
          </a:ln>
        </p:spPr>
        <p:txBody>
          <a:bodyPr/>
          <a:lstStyle/>
          <a:p>
            <a:endParaRPr lang="en-US"/>
          </a:p>
        </p:txBody>
      </p:sp>
      <p:sp>
        <p:nvSpPr>
          <p:cNvPr id="56" name="Text 54"/>
          <p:cNvSpPr/>
          <p:nvPr/>
        </p:nvSpPr>
        <p:spPr>
          <a:xfrm>
            <a:off x="6144768" y="1627632"/>
            <a:ext cx="841248" cy="365760"/>
          </a:xfrm>
          <a:prstGeom prst="rect">
            <a:avLst/>
          </a:prstGeom>
          <a:noFill/>
          <a:ln/>
        </p:spPr>
        <p:txBody>
          <a:bodyPr wrap="square" rtlCol="0" anchor="ctr"/>
          <a:lstStyle/>
          <a:p>
            <a:pPr marL="0" indent="0" algn="ctr">
              <a:buNone/>
            </a:pPr>
            <a:r>
              <a:rPr lang="en-US" sz="1100" b="1" dirty="0">
                <a:solidFill>
                  <a:srgbClr val="0080C6"/>
                </a:solidFill>
                <a:latin typeface="Calibri" pitchFamily="34" charset="0"/>
                <a:ea typeface="Calibri" pitchFamily="34" charset="-122"/>
                <a:cs typeface="Calibri" pitchFamily="34" charset="-120"/>
              </a:rPr>
              <a:t>90.9%</a:t>
            </a:r>
            <a:endParaRPr lang="en-US" sz="1100" dirty="0"/>
          </a:p>
        </p:txBody>
      </p:sp>
      <p:sp>
        <p:nvSpPr>
          <p:cNvPr id="57" name="Shape 55"/>
          <p:cNvSpPr/>
          <p:nvPr/>
        </p:nvSpPr>
        <p:spPr>
          <a:xfrm>
            <a:off x="7022592" y="1627632"/>
            <a:ext cx="1005840" cy="365760"/>
          </a:xfrm>
          <a:prstGeom prst="rect">
            <a:avLst/>
          </a:prstGeom>
          <a:solidFill>
            <a:srgbClr val="F4F8FB"/>
          </a:solidFill>
          <a:ln w="19050">
            <a:solidFill>
              <a:srgbClr val="FFFFFF"/>
            </a:solidFill>
            <a:prstDash val="solid"/>
          </a:ln>
        </p:spPr>
        <p:txBody>
          <a:bodyPr/>
          <a:lstStyle/>
          <a:p>
            <a:endParaRPr lang="en-US"/>
          </a:p>
        </p:txBody>
      </p:sp>
      <p:sp>
        <p:nvSpPr>
          <p:cNvPr id="58" name="Text 56"/>
          <p:cNvSpPr/>
          <p:nvPr/>
        </p:nvSpPr>
        <p:spPr>
          <a:xfrm>
            <a:off x="7059168" y="1627632"/>
            <a:ext cx="93268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9.1%</a:t>
            </a:r>
            <a:endParaRPr lang="en-US" sz="1100" dirty="0"/>
          </a:p>
        </p:txBody>
      </p:sp>
      <p:sp>
        <p:nvSpPr>
          <p:cNvPr id="59" name="Shape 57"/>
          <p:cNvSpPr/>
          <p:nvPr/>
        </p:nvSpPr>
        <p:spPr>
          <a:xfrm>
            <a:off x="8028432" y="1627632"/>
            <a:ext cx="914400" cy="365760"/>
          </a:xfrm>
          <a:prstGeom prst="rect">
            <a:avLst/>
          </a:prstGeom>
          <a:solidFill>
            <a:srgbClr val="FEE2E2"/>
          </a:solidFill>
          <a:ln w="19050">
            <a:solidFill>
              <a:srgbClr val="FFFFFF"/>
            </a:solidFill>
            <a:prstDash val="solid"/>
          </a:ln>
        </p:spPr>
        <p:txBody>
          <a:bodyPr/>
          <a:lstStyle/>
          <a:p>
            <a:endParaRPr lang="en-US"/>
          </a:p>
        </p:txBody>
      </p:sp>
      <p:sp>
        <p:nvSpPr>
          <p:cNvPr id="60" name="Text 58"/>
          <p:cNvSpPr/>
          <p:nvPr/>
        </p:nvSpPr>
        <p:spPr>
          <a:xfrm>
            <a:off x="8065008" y="1627632"/>
            <a:ext cx="841248" cy="365760"/>
          </a:xfrm>
          <a:prstGeom prst="rect">
            <a:avLst/>
          </a:prstGeom>
          <a:noFill/>
          <a:ln/>
        </p:spPr>
        <p:txBody>
          <a:bodyPr wrap="square"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0%</a:t>
            </a:r>
            <a:endParaRPr lang="en-US" sz="1200" dirty="0"/>
          </a:p>
        </p:txBody>
      </p:sp>
      <p:sp>
        <p:nvSpPr>
          <p:cNvPr id="61" name="Shape 59"/>
          <p:cNvSpPr/>
          <p:nvPr/>
        </p:nvSpPr>
        <p:spPr>
          <a:xfrm>
            <a:off x="4690872" y="2011680"/>
            <a:ext cx="1417320" cy="365760"/>
          </a:xfrm>
          <a:prstGeom prst="rect">
            <a:avLst/>
          </a:prstGeom>
          <a:solidFill>
            <a:srgbClr val="F4F8FB"/>
          </a:solidFill>
          <a:ln w="19050">
            <a:solidFill>
              <a:srgbClr val="FFFFFF"/>
            </a:solidFill>
            <a:prstDash val="solid"/>
          </a:ln>
        </p:spPr>
        <p:txBody>
          <a:bodyPr/>
          <a:lstStyle/>
          <a:p>
            <a:endParaRPr lang="en-US" dirty="0"/>
          </a:p>
        </p:txBody>
      </p:sp>
      <p:sp>
        <p:nvSpPr>
          <p:cNvPr id="62" name="Text 60"/>
          <p:cNvSpPr/>
          <p:nvPr/>
        </p:nvSpPr>
        <p:spPr>
          <a:xfrm>
            <a:off x="4800600" y="2011680"/>
            <a:ext cx="1271016" cy="365760"/>
          </a:xfrm>
          <a:prstGeom prst="rect">
            <a:avLst/>
          </a:prstGeom>
          <a:noFill/>
          <a:ln/>
        </p:spPr>
        <p:txBody>
          <a:bodyPr wrap="square" rtlCol="0" anchor="ctr"/>
          <a:lstStyle/>
          <a:p>
            <a:pPr marL="0" indent="0" algn="l">
              <a:buNone/>
            </a:pPr>
            <a:r>
              <a:rPr lang="en-US" sz="1000" b="1" dirty="0">
                <a:solidFill>
                  <a:srgbClr val="334155"/>
                </a:solidFill>
                <a:latin typeface="Calibri" pitchFamily="34" charset="0"/>
                <a:ea typeface="Calibri" pitchFamily="34" charset="-122"/>
                <a:cs typeface="Calibri" pitchFamily="34" charset="-120"/>
              </a:rPr>
              <a:t>2nd &amp; 2  (n=18)</a:t>
            </a:r>
            <a:endParaRPr lang="en-US" sz="1000" dirty="0"/>
          </a:p>
        </p:txBody>
      </p:sp>
      <p:sp>
        <p:nvSpPr>
          <p:cNvPr id="63" name="Shape 61"/>
          <p:cNvSpPr/>
          <p:nvPr/>
        </p:nvSpPr>
        <p:spPr>
          <a:xfrm>
            <a:off x="6108192" y="2011680"/>
            <a:ext cx="914400" cy="365760"/>
          </a:xfrm>
          <a:prstGeom prst="rect">
            <a:avLst/>
          </a:prstGeom>
          <a:solidFill>
            <a:srgbClr val="F4F8FB"/>
          </a:solidFill>
          <a:ln w="19050">
            <a:solidFill>
              <a:srgbClr val="FFFFFF"/>
            </a:solidFill>
            <a:prstDash val="solid"/>
          </a:ln>
        </p:spPr>
        <p:txBody>
          <a:bodyPr/>
          <a:lstStyle/>
          <a:p>
            <a:endParaRPr lang="en-US"/>
          </a:p>
        </p:txBody>
      </p:sp>
      <p:sp>
        <p:nvSpPr>
          <p:cNvPr id="64" name="Text 62"/>
          <p:cNvSpPr/>
          <p:nvPr/>
        </p:nvSpPr>
        <p:spPr>
          <a:xfrm>
            <a:off x="6144768" y="2011680"/>
            <a:ext cx="841248" cy="365760"/>
          </a:xfrm>
          <a:prstGeom prst="rect">
            <a:avLst/>
          </a:prstGeom>
          <a:noFill/>
          <a:ln/>
        </p:spPr>
        <p:txBody>
          <a:bodyPr wrap="square" rtlCol="0" anchor="ctr"/>
          <a:lstStyle/>
          <a:p>
            <a:pPr marL="0" indent="0" algn="ctr">
              <a:buNone/>
            </a:pPr>
            <a:r>
              <a:rPr lang="en-US" sz="1100" b="1" dirty="0">
                <a:solidFill>
                  <a:srgbClr val="0080C6"/>
                </a:solidFill>
                <a:latin typeface="Calibri" pitchFamily="34" charset="0"/>
                <a:ea typeface="Calibri" pitchFamily="34" charset="-122"/>
                <a:cs typeface="Calibri" pitchFamily="34" charset="-120"/>
              </a:rPr>
              <a:t>77.8%</a:t>
            </a:r>
            <a:endParaRPr lang="en-US" sz="1100" dirty="0"/>
          </a:p>
        </p:txBody>
      </p:sp>
      <p:sp>
        <p:nvSpPr>
          <p:cNvPr id="65" name="Shape 63"/>
          <p:cNvSpPr/>
          <p:nvPr/>
        </p:nvSpPr>
        <p:spPr>
          <a:xfrm>
            <a:off x="7022592" y="2011680"/>
            <a:ext cx="1005840" cy="365760"/>
          </a:xfrm>
          <a:prstGeom prst="rect">
            <a:avLst/>
          </a:prstGeom>
          <a:solidFill>
            <a:srgbClr val="F4F8FB"/>
          </a:solidFill>
          <a:ln w="19050">
            <a:solidFill>
              <a:srgbClr val="FFFFFF"/>
            </a:solidFill>
            <a:prstDash val="solid"/>
          </a:ln>
        </p:spPr>
        <p:txBody>
          <a:bodyPr/>
          <a:lstStyle/>
          <a:p>
            <a:endParaRPr lang="en-US"/>
          </a:p>
        </p:txBody>
      </p:sp>
      <p:sp>
        <p:nvSpPr>
          <p:cNvPr id="66" name="Text 64"/>
          <p:cNvSpPr/>
          <p:nvPr/>
        </p:nvSpPr>
        <p:spPr>
          <a:xfrm>
            <a:off x="7059168" y="2011680"/>
            <a:ext cx="93268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22.2%</a:t>
            </a:r>
            <a:endParaRPr lang="en-US" sz="1100" dirty="0"/>
          </a:p>
        </p:txBody>
      </p:sp>
      <p:sp>
        <p:nvSpPr>
          <p:cNvPr id="67" name="Shape 65"/>
          <p:cNvSpPr/>
          <p:nvPr/>
        </p:nvSpPr>
        <p:spPr>
          <a:xfrm>
            <a:off x="8028432" y="2011680"/>
            <a:ext cx="914400" cy="365760"/>
          </a:xfrm>
          <a:prstGeom prst="rect">
            <a:avLst/>
          </a:prstGeom>
          <a:solidFill>
            <a:srgbClr val="FEE2E2"/>
          </a:solidFill>
          <a:ln w="19050">
            <a:solidFill>
              <a:srgbClr val="FFFFFF"/>
            </a:solidFill>
            <a:prstDash val="solid"/>
          </a:ln>
        </p:spPr>
        <p:txBody>
          <a:bodyPr/>
          <a:lstStyle/>
          <a:p>
            <a:endParaRPr lang="en-US"/>
          </a:p>
        </p:txBody>
      </p:sp>
      <p:sp>
        <p:nvSpPr>
          <p:cNvPr id="68" name="Text 66"/>
          <p:cNvSpPr/>
          <p:nvPr/>
        </p:nvSpPr>
        <p:spPr>
          <a:xfrm>
            <a:off x="8065008" y="2011680"/>
            <a:ext cx="841248" cy="365760"/>
          </a:xfrm>
          <a:prstGeom prst="rect">
            <a:avLst/>
          </a:prstGeom>
          <a:noFill/>
          <a:ln/>
        </p:spPr>
        <p:txBody>
          <a:bodyPr wrap="square"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0%</a:t>
            </a:r>
            <a:endParaRPr lang="en-US" sz="1200" dirty="0"/>
          </a:p>
        </p:txBody>
      </p:sp>
      <p:sp>
        <p:nvSpPr>
          <p:cNvPr id="69" name="Shape 67"/>
          <p:cNvSpPr/>
          <p:nvPr/>
        </p:nvSpPr>
        <p:spPr>
          <a:xfrm>
            <a:off x="4690872" y="2395728"/>
            <a:ext cx="1417320" cy="365760"/>
          </a:xfrm>
          <a:prstGeom prst="rect">
            <a:avLst/>
          </a:prstGeom>
          <a:solidFill>
            <a:srgbClr val="F4F8FB"/>
          </a:solidFill>
          <a:ln w="19050">
            <a:solidFill>
              <a:srgbClr val="FFFFFF"/>
            </a:solidFill>
            <a:prstDash val="solid"/>
          </a:ln>
        </p:spPr>
        <p:txBody>
          <a:bodyPr/>
          <a:lstStyle/>
          <a:p>
            <a:endParaRPr lang="en-US"/>
          </a:p>
        </p:txBody>
      </p:sp>
      <p:sp>
        <p:nvSpPr>
          <p:cNvPr id="70" name="Text 68"/>
          <p:cNvSpPr/>
          <p:nvPr/>
        </p:nvSpPr>
        <p:spPr>
          <a:xfrm>
            <a:off x="4800600" y="2395728"/>
            <a:ext cx="1271016" cy="365760"/>
          </a:xfrm>
          <a:prstGeom prst="rect">
            <a:avLst/>
          </a:prstGeom>
          <a:noFill/>
          <a:ln/>
        </p:spPr>
        <p:txBody>
          <a:bodyPr wrap="square" rtlCol="0" anchor="ctr"/>
          <a:lstStyle/>
          <a:p>
            <a:pPr marL="0" indent="0" algn="l">
              <a:buNone/>
            </a:pPr>
            <a:r>
              <a:rPr lang="en-US" sz="1000" b="1" dirty="0">
                <a:solidFill>
                  <a:srgbClr val="334155"/>
                </a:solidFill>
                <a:latin typeface="Calibri" pitchFamily="34" charset="0"/>
                <a:ea typeface="Calibri" pitchFamily="34" charset="-122"/>
                <a:cs typeface="Calibri" pitchFamily="34" charset="-120"/>
              </a:rPr>
              <a:t>2nd &amp; 3  (n=17)</a:t>
            </a:r>
            <a:endParaRPr lang="en-US" sz="1000" dirty="0"/>
          </a:p>
        </p:txBody>
      </p:sp>
      <p:sp>
        <p:nvSpPr>
          <p:cNvPr id="71" name="Shape 69"/>
          <p:cNvSpPr/>
          <p:nvPr/>
        </p:nvSpPr>
        <p:spPr>
          <a:xfrm>
            <a:off x="6108192" y="2395728"/>
            <a:ext cx="914400" cy="365760"/>
          </a:xfrm>
          <a:prstGeom prst="rect">
            <a:avLst/>
          </a:prstGeom>
          <a:solidFill>
            <a:srgbClr val="F4F8FB"/>
          </a:solidFill>
          <a:ln w="19050">
            <a:solidFill>
              <a:srgbClr val="FFFFFF"/>
            </a:solidFill>
            <a:prstDash val="solid"/>
          </a:ln>
        </p:spPr>
        <p:txBody>
          <a:bodyPr/>
          <a:lstStyle/>
          <a:p>
            <a:endParaRPr lang="en-US"/>
          </a:p>
        </p:txBody>
      </p:sp>
      <p:sp>
        <p:nvSpPr>
          <p:cNvPr id="72" name="Text 70"/>
          <p:cNvSpPr/>
          <p:nvPr/>
        </p:nvSpPr>
        <p:spPr>
          <a:xfrm>
            <a:off x="6144768" y="2395728"/>
            <a:ext cx="841248" cy="365760"/>
          </a:xfrm>
          <a:prstGeom prst="rect">
            <a:avLst/>
          </a:prstGeom>
          <a:noFill/>
          <a:ln/>
        </p:spPr>
        <p:txBody>
          <a:bodyPr wrap="square" rtlCol="0" anchor="ctr"/>
          <a:lstStyle/>
          <a:p>
            <a:pPr marL="0" indent="0" algn="ctr">
              <a:buNone/>
            </a:pPr>
            <a:r>
              <a:rPr lang="en-US" sz="1100" dirty="0">
                <a:solidFill>
                  <a:srgbClr val="0080C6"/>
                </a:solidFill>
                <a:latin typeface="Calibri" pitchFamily="34" charset="0"/>
                <a:ea typeface="Calibri" pitchFamily="34" charset="-122"/>
                <a:cs typeface="Calibri" pitchFamily="34" charset="-120"/>
              </a:rPr>
              <a:t>52.9%</a:t>
            </a:r>
            <a:endParaRPr lang="en-US" sz="1100" dirty="0"/>
          </a:p>
        </p:txBody>
      </p:sp>
      <p:sp>
        <p:nvSpPr>
          <p:cNvPr id="73" name="Shape 71"/>
          <p:cNvSpPr/>
          <p:nvPr/>
        </p:nvSpPr>
        <p:spPr>
          <a:xfrm>
            <a:off x="7022592" y="2395728"/>
            <a:ext cx="1005840" cy="365760"/>
          </a:xfrm>
          <a:prstGeom prst="rect">
            <a:avLst/>
          </a:prstGeom>
          <a:solidFill>
            <a:srgbClr val="F4F8FB"/>
          </a:solidFill>
          <a:ln w="19050">
            <a:solidFill>
              <a:srgbClr val="FFFFFF"/>
            </a:solidFill>
            <a:prstDash val="solid"/>
          </a:ln>
        </p:spPr>
        <p:txBody>
          <a:bodyPr/>
          <a:lstStyle/>
          <a:p>
            <a:endParaRPr lang="en-US"/>
          </a:p>
        </p:txBody>
      </p:sp>
      <p:sp>
        <p:nvSpPr>
          <p:cNvPr id="74" name="Text 72"/>
          <p:cNvSpPr/>
          <p:nvPr/>
        </p:nvSpPr>
        <p:spPr>
          <a:xfrm>
            <a:off x="7059168" y="2395728"/>
            <a:ext cx="932688" cy="365760"/>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29.4%</a:t>
            </a:r>
            <a:endParaRPr lang="en-US" sz="1100" dirty="0"/>
          </a:p>
        </p:txBody>
      </p:sp>
      <p:sp>
        <p:nvSpPr>
          <p:cNvPr id="75" name="Shape 73"/>
          <p:cNvSpPr/>
          <p:nvPr/>
        </p:nvSpPr>
        <p:spPr>
          <a:xfrm>
            <a:off x="8028432" y="2395728"/>
            <a:ext cx="914400" cy="365760"/>
          </a:xfrm>
          <a:prstGeom prst="rect">
            <a:avLst/>
          </a:prstGeom>
          <a:solidFill>
            <a:srgbClr val="DCFCE7"/>
          </a:solidFill>
          <a:ln w="19050">
            <a:solidFill>
              <a:srgbClr val="FFFFFF"/>
            </a:solidFill>
            <a:prstDash val="solid"/>
          </a:ln>
        </p:spPr>
        <p:txBody>
          <a:bodyPr/>
          <a:lstStyle/>
          <a:p>
            <a:endParaRPr lang="en-US"/>
          </a:p>
        </p:txBody>
      </p:sp>
      <p:sp>
        <p:nvSpPr>
          <p:cNvPr id="76" name="Text 74"/>
          <p:cNvSpPr/>
          <p:nvPr/>
        </p:nvSpPr>
        <p:spPr>
          <a:xfrm>
            <a:off x="8065008" y="2395728"/>
            <a:ext cx="841248" cy="365760"/>
          </a:xfrm>
          <a:prstGeom prst="rect">
            <a:avLst/>
          </a:prstGeom>
          <a:noFill/>
          <a:ln/>
        </p:spPr>
        <p:txBody>
          <a:bodyPr wrap="square" rtlCol="0" anchor="ctr"/>
          <a:lstStyle/>
          <a:p>
            <a:pPr marL="0" indent="0" algn="ctr">
              <a:buNone/>
            </a:pPr>
            <a:r>
              <a:rPr lang="en-US" sz="1200" b="1" dirty="0">
                <a:solidFill>
                  <a:srgbClr val="16A34A"/>
                </a:solidFill>
                <a:latin typeface="Calibri" pitchFamily="34" charset="0"/>
                <a:ea typeface="Calibri" pitchFamily="34" charset="-122"/>
                <a:cs typeface="Calibri" pitchFamily="34" charset="-120"/>
              </a:rPr>
              <a:t>17.6%</a:t>
            </a:r>
            <a:endParaRPr lang="en-US" sz="1200" dirty="0"/>
          </a:p>
        </p:txBody>
      </p:sp>
      <p:sp>
        <p:nvSpPr>
          <p:cNvPr id="79" name="Text 77"/>
          <p:cNvSpPr/>
          <p:nvPr/>
        </p:nvSpPr>
        <p:spPr>
          <a:xfrm>
            <a:off x="274320" y="3069890"/>
            <a:ext cx="8595360" cy="256032"/>
          </a:xfrm>
          <a:prstGeom prst="rect">
            <a:avLst/>
          </a:prstGeom>
          <a:noFill/>
          <a:ln/>
        </p:spPr>
        <p:txBody>
          <a:bodyPr wrap="square" rtlCol="0" anchor="ctr"/>
          <a:lstStyle/>
          <a:p>
            <a:r>
              <a:rPr lang="en-US" sz="1100" b="1" dirty="0">
                <a:latin typeface="Calibri" pitchFamily="34" charset="0"/>
                <a:ea typeface="Calibri" pitchFamily="34" charset="-122"/>
                <a:cs typeface="Calibri" pitchFamily="34" charset="-120"/>
              </a:rPr>
              <a:t>LAC Ranked #29 in the league on 2nd &amp; Short EPA in 2025</a:t>
            </a:r>
            <a:endParaRPr lang="en-US" sz="1100" dirty="0"/>
          </a:p>
        </p:txBody>
      </p:sp>
      <p:sp>
        <p:nvSpPr>
          <p:cNvPr id="83" name="Shape 81"/>
          <p:cNvSpPr/>
          <p:nvPr/>
        </p:nvSpPr>
        <p:spPr>
          <a:xfrm>
            <a:off x="306750" y="3325922"/>
            <a:ext cx="1442803" cy="292608"/>
          </a:xfrm>
          <a:prstGeom prst="rect">
            <a:avLst/>
          </a:prstGeom>
          <a:solidFill>
            <a:srgbClr val="0080C6"/>
          </a:solidFill>
          <a:ln w="19050">
            <a:solidFill>
              <a:srgbClr val="FFFFFF"/>
            </a:solidFill>
            <a:prstDash val="solid"/>
          </a:ln>
        </p:spPr>
        <p:txBody>
          <a:bodyPr/>
          <a:lstStyle/>
          <a:p>
            <a:endParaRPr lang="en-US"/>
          </a:p>
        </p:txBody>
      </p:sp>
      <p:sp>
        <p:nvSpPr>
          <p:cNvPr id="84" name="Text 82"/>
          <p:cNvSpPr/>
          <p:nvPr/>
        </p:nvSpPr>
        <p:spPr>
          <a:xfrm>
            <a:off x="2943543" y="3218687"/>
            <a:ext cx="1409825" cy="292608"/>
          </a:xfrm>
          <a:prstGeom prst="rect">
            <a:avLst/>
          </a:prstGeom>
          <a:noFill/>
          <a:ln/>
        </p:spPr>
        <p:txBody>
          <a:bodyPr wrap="square" rtlCol="0" anchor="ctr"/>
          <a:lstStyle/>
          <a:p>
            <a:pPr marL="0" indent="0" algn="ctr">
              <a:buNone/>
            </a:pPr>
            <a:endParaRPr lang="en-US" sz="850" dirty="0"/>
          </a:p>
        </p:txBody>
      </p:sp>
      <p:sp>
        <p:nvSpPr>
          <p:cNvPr id="85" name="Shape 83"/>
          <p:cNvSpPr/>
          <p:nvPr/>
        </p:nvSpPr>
        <p:spPr>
          <a:xfrm>
            <a:off x="1740128" y="3325922"/>
            <a:ext cx="535898" cy="292608"/>
          </a:xfrm>
          <a:prstGeom prst="rect">
            <a:avLst/>
          </a:prstGeom>
          <a:solidFill>
            <a:srgbClr val="0080C6"/>
          </a:solidFill>
          <a:ln w="19050">
            <a:solidFill>
              <a:srgbClr val="FFFFFF"/>
            </a:solidFill>
            <a:prstDash val="solid"/>
          </a:ln>
        </p:spPr>
        <p:txBody>
          <a:bodyPr/>
          <a:lstStyle/>
          <a:p>
            <a:endParaRPr lang="en-US" dirty="0"/>
          </a:p>
        </p:txBody>
      </p:sp>
      <p:sp>
        <p:nvSpPr>
          <p:cNvPr id="86" name="Text 84"/>
          <p:cNvSpPr/>
          <p:nvPr/>
        </p:nvSpPr>
        <p:spPr>
          <a:xfrm>
            <a:off x="1736530" y="3325922"/>
            <a:ext cx="502920"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EPA</a:t>
            </a:r>
            <a:endParaRPr lang="en-US" sz="850" dirty="0"/>
          </a:p>
        </p:txBody>
      </p:sp>
      <p:sp>
        <p:nvSpPr>
          <p:cNvPr id="87" name="Shape 85"/>
          <p:cNvSpPr/>
          <p:nvPr/>
        </p:nvSpPr>
        <p:spPr>
          <a:xfrm>
            <a:off x="2276026" y="3325922"/>
            <a:ext cx="535898" cy="292608"/>
          </a:xfrm>
          <a:prstGeom prst="rect">
            <a:avLst/>
          </a:prstGeom>
          <a:solidFill>
            <a:srgbClr val="0080C6"/>
          </a:solidFill>
          <a:ln w="19050">
            <a:solidFill>
              <a:srgbClr val="FFFFFF"/>
            </a:solidFill>
            <a:prstDash val="solid"/>
          </a:ln>
        </p:spPr>
        <p:txBody>
          <a:bodyPr/>
          <a:lstStyle/>
          <a:p>
            <a:endParaRPr lang="en-US"/>
          </a:p>
        </p:txBody>
      </p:sp>
      <p:sp>
        <p:nvSpPr>
          <p:cNvPr id="88" name="Text 86"/>
          <p:cNvSpPr/>
          <p:nvPr/>
        </p:nvSpPr>
        <p:spPr>
          <a:xfrm>
            <a:off x="2272428" y="3325922"/>
            <a:ext cx="502920"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Run%</a:t>
            </a:r>
            <a:endParaRPr lang="en-US" sz="850" dirty="0"/>
          </a:p>
        </p:txBody>
      </p:sp>
      <p:sp>
        <p:nvSpPr>
          <p:cNvPr id="89" name="Shape 87"/>
          <p:cNvSpPr/>
          <p:nvPr/>
        </p:nvSpPr>
        <p:spPr>
          <a:xfrm>
            <a:off x="2819120" y="3325922"/>
            <a:ext cx="535898" cy="292608"/>
          </a:xfrm>
          <a:prstGeom prst="rect">
            <a:avLst/>
          </a:prstGeom>
          <a:solidFill>
            <a:srgbClr val="0080C6"/>
          </a:solidFill>
          <a:ln w="19050">
            <a:solidFill>
              <a:srgbClr val="FFFFFF"/>
            </a:solidFill>
            <a:prstDash val="solid"/>
          </a:ln>
        </p:spPr>
        <p:txBody>
          <a:bodyPr/>
          <a:lstStyle/>
          <a:p>
            <a:endParaRPr lang="en-US"/>
          </a:p>
        </p:txBody>
      </p:sp>
      <p:sp>
        <p:nvSpPr>
          <p:cNvPr id="90" name="Text 88"/>
          <p:cNvSpPr/>
          <p:nvPr/>
        </p:nvSpPr>
        <p:spPr>
          <a:xfrm>
            <a:off x="2815522" y="3325922"/>
            <a:ext cx="502920" cy="29260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Shot%</a:t>
            </a:r>
            <a:endParaRPr lang="en-US" sz="850" dirty="0"/>
          </a:p>
        </p:txBody>
      </p:sp>
      <p:sp>
        <p:nvSpPr>
          <p:cNvPr id="95" name="Shape 93"/>
          <p:cNvSpPr/>
          <p:nvPr/>
        </p:nvSpPr>
        <p:spPr>
          <a:xfrm>
            <a:off x="321989" y="3618530"/>
            <a:ext cx="1442803" cy="292608"/>
          </a:xfrm>
          <a:prstGeom prst="rect">
            <a:avLst/>
          </a:prstGeom>
          <a:solidFill>
            <a:srgbClr val="DCFCE7"/>
          </a:solidFill>
          <a:ln w="19050">
            <a:solidFill>
              <a:srgbClr val="FFFFFF"/>
            </a:solidFill>
            <a:prstDash val="solid"/>
          </a:ln>
        </p:spPr>
        <p:txBody>
          <a:bodyPr/>
          <a:lstStyle/>
          <a:p>
            <a:endParaRPr lang="en-US"/>
          </a:p>
        </p:txBody>
      </p:sp>
      <p:sp>
        <p:nvSpPr>
          <p:cNvPr id="96" name="Text 94"/>
          <p:cNvSpPr/>
          <p:nvPr/>
        </p:nvSpPr>
        <p:spPr>
          <a:xfrm>
            <a:off x="351369" y="3618530"/>
            <a:ext cx="1376847" cy="292608"/>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1. Cincinnati Bengals</a:t>
            </a:r>
            <a:endParaRPr lang="en-US" sz="900" dirty="0"/>
          </a:p>
        </p:txBody>
      </p:sp>
      <p:sp>
        <p:nvSpPr>
          <p:cNvPr id="97" name="Shape 95"/>
          <p:cNvSpPr/>
          <p:nvPr/>
        </p:nvSpPr>
        <p:spPr>
          <a:xfrm>
            <a:off x="1745670" y="3618530"/>
            <a:ext cx="535898" cy="292608"/>
          </a:xfrm>
          <a:prstGeom prst="rect">
            <a:avLst/>
          </a:prstGeom>
          <a:solidFill>
            <a:srgbClr val="DCFCE7"/>
          </a:solidFill>
          <a:ln w="19050">
            <a:solidFill>
              <a:srgbClr val="FFFFFF"/>
            </a:solidFill>
            <a:prstDash val="solid"/>
          </a:ln>
        </p:spPr>
        <p:txBody>
          <a:bodyPr/>
          <a:lstStyle/>
          <a:p>
            <a:endParaRPr lang="en-US"/>
          </a:p>
        </p:txBody>
      </p:sp>
      <p:sp>
        <p:nvSpPr>
          <p:cNvPr id="98" name="Text 96"/>
          <p:cNvSpPr/>
          <p:nvPr/>
        </p:nvSpPr>
        <p:spPr>
          <a:xfrm>
            <a:off x="1742072" y="3618530"/>
            <a:ext cx="502920" cy="292608"/>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+0.437</a:t>
            </a:r>
            <a:endParaRPr lang="en-US" sz="900" dirty="0"/>
          </a:p>
        </p:txBody>
      </p:sp>
      <p:sp>
        <p:nvSpPr>
          <p:cNvPr id="99" name="Shape 97"/>
          <p:cNvSpPr/>
          <p:nvPr/>
        </p:nvSpPr>
        <p:spPr>
          <a:xfrm>
            <a:off x="2291262" y="3618530"/>
            <a:ext cx="535898" cy="292608"/>
          </a:xfrm>
          <a:prstGeom prst="rect">
            <a:avLst/>
          </a:prstGeom>
          <a:solidFill>
            <a:srgbClr val="DCFCE7"/>
          </a:solidFill>
          <a:ln w="19050">
            <a:solidFill>
              <a:srgbClr val="FFFFFF"/>
            </a:solidFill>
            <a:prstDash val="solid"/>
          </a:ln>
        </p:spPr>
        <p:txBody>
          <a:bodyPr/>
          <a:lstStyle/>
          <a:p>
            <a:endParaRPr lang="en-US"/>
          </a:p>
        </p:txBody>
      </p:sp>
      <p:sp>
        <p:nvSpPr>
          <p:cNvPr id="100" name="Text 98"/>
          <p:cNvSpPr/>
          <p:nvPr/>
        </p:nvSpPr>
        <p:spPr>
          <a:xfrm>
            <a:off x="2287664" y="361853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61.4%</a:t>
            </a:r>
            <a:endParaRPr lang="en-US" sz="900" dirty="0"/>
          </a:p>
        </p:txBody>
      </p:sp>
      <p:sp>
        <p:nvSpPr>
          <p:cNvPr id="101" name="Shape 99"/>
          <p:cNvSpPr/>
          <p:nvPr/>
        </p:nvSpPr>
        <p:spPr>
          <a:xfrm>
            <a:off x="2819120" y="3618530"/>
            <a:ext cx="535898" cy="292608"/>
          </a:xfrm>
          <a:prstGeom prst="rect">
            <a:avLst/>
          </a:prstGeom>
          <a:solidFill>
            <a:srgbClr val="DCFCE7"/>
          </a:solidFill>
          <a:ln w="19050">
            <a:solidFill>
              <a:srgbClr val="FFFFFF"/>
            </a:solidFill>
            <a:prstDash val="solid"/>
          </a:ln>
        </p:spPr>
        <p:txBody>
          <a:bodyPr/>
          <a:lstStyle/>
          <a:p>
            <a:endParaRPr lang="en-US"/>
          </a:p>
        </p:txBody>
      </p:sp>
      <p:sp>
        <p:nvSpPr>
          <p:cNvPr id="102" name="Text 100"/>
          <p:cNvSpPr/>
          <p:nvPr/>
        </p:nvSpPr>
        <p:spPr>
          <a:xfrm>
            <a:off x="2815522" y="361853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6.8%</a:t>
            </a:r>
            <a:endParaRPr lang="en-US" sz="900" dirty="0"/>
          </a:p>
        </p:txBody>
      </p:sp>
      <p:sp>
        <p:nvSpPr>
          <p:cNvPr id="107" name="Shape 105"/>
          <p:cNvSpPr/>
          <p:nvPr/>
        </p:nvSpPr>
        <p:spPr>
          <a:xfrm>
            <a:off x="321989" y="3892850"/>
            <a:ext cx="1442803" cy="292608"/>
          </a:xfrm>
          <a:prstGeom prst="rect">
            <a:avLst/>
          </a:prstGeom>
          <a:solidFill>
            <a:srgbClr val="F4F8FB"/>
          </a:solidFill>
          <a:ln w="19050">
            <a:solidFill>
              <a:srgbClr val="FFFFFF"/>
            </a:solidFill>
            <a:prstDash val="solid"/>
          </a:ln>
        </p:spPr>
        <p:txBody>
          <a:bodyPr/>
          <a:lstStyle/>
          <a:p>
            <a:endParaRPr lang="en-US" dirty="0"/>
          </a:p>
        </p:txBody>
      </p:sp>
      <p:sp>
        <p:nvSpPr>
          <p:cNvPr id="108" name="Text 106"/>
          <p:cNvSpPr/>
          <p:nvPr/>
        </p:nvSpPr>
        <p:spPr>
          <a:xfrm>
            <a:off x="351369" y="3892850"/>
            <a:ext cx="1376847" cy="292608"/>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2. Los Angeles Rams</a:t>
            </a:r>
            <a:endParaRPr lang="en-US" sz="900" dirty="0"/>
          </a:p>
        </p:txBody>
      </p:sp>
      <p:sp>
        <p:nvSpPr>
          <p:cNvPr id="109" name="Shape 107"/>
          <p:cNvSpPr/>
          <p:nvPr/>
        </p:nvSpPr>
        <p:spPr>
          <a:xfrm>
            <a:off x="1745670" y="3892850"/>
            <a:ext cx="535898" cy="292608"/>
          </a:xfrm>
          <a:prstGeom prst="rect">
            <a:avLst/>
          </a:prstGeom>
          <a:solidFill>
            <a:srgbClr val="F4F8FB"/>
          </a:solidFill>
          <a:ln w="19050">
            <a:solidFill>
              <a:srgbClr val="FFFFFF"/>
            </a:solidFill>
            <a:prstDash val="solid"/>
          </a:ln>
        </p:spPr>
        <p:txBody>
          <a:bodyPr/>
          <a:lstStyle/>
          <a:p>
            <a:endParaRPr lang="en-US"/>
          </a:p>
        </p:txBody>
      </p:sp>
      <p:sp>
        <p:nvSpPr>
          <p:cNvPr id="110" name="Text 108"/>
          <p:cNvSpPr/>
          <p:nvPr/>
        </p:nvSpPr>
        <p:spPr>
          <a:xfrm>
            <a:off x="1742072" y="3892850"/>
            <a:ext cx="502920" cy="292608"/>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+0.396</a:t>
            </a:r>
            <a:endParaRPr lang="en-US" sz="900" dirty="0"/>
          </a:p>
        </p:txBody>
      </p:sp>
      <p:sp>
        <p:nvSpPr>
          <p:cNvPr id="111" name="Shape 109"/>
          <p:cNvSpPr/>
          <p:nvPr/>
        </p:nvSpPr>
        <p:spPr>
          <a:xfrm>
            <a:off x="2291262" y="3892850"/>
            <a:ext cx="535898" cy="292608"/>
          </a:xfrm>
          <a:prstGeom prst="rect">
            <a:avLst/>
          </a:prstGeom>
          <a:solidFill>
            <a:srgbClr val="F4F8FB"/>
          </a:solidFill>
          <a:ln w="19050">
            <a:solidFill>
              <a:srgbClr val="FFFFFF"/>
            </a:solidFill>
            <a:prstDash val="solid"/>
          </a:ln>
        </p:spPr>
        <p:txBody>
          <a:bodyPr/>
          <a:lstStyle/>
          <a:p>
            <a:endParaRPr lang="en-US"/>
          </a:p>
        </p:txBody>
      </p:sp>
      <p:sp>
        <p:nvSpPr>
          <p:cNvPr id="112" name="Text 110"/>
          <p:cNvSpPr/>
          <p:nvPr/>
        </p:nvSpPr>
        <p:spPr>
          <a:xfrm>
            <a:off x="2287664" y="389285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58.6%</a:t>
            </a:r>
            <a:endParaRPr lang="en-US" sz="900" dirty="0"/>
          </a:p>
        </p:txBody>
      </p:sp>
      <p:sp>
        <p:nvSpPr>
          <p:cNvPr id="113" name="Shape 111"/>
          <p:cNvSpPr/>
          <p:nvPr/>
        </p:nvSpPr>
        <p:spPr>
          <a:xfrm>
            <a:off x="2819120" y="3892850"/>
            <a:ext cx="535898" cy="292608"/>
          </a:xfrm>
          <a:prstGeom prst="rect">
            <a:avLst/>
          </a:prstGeom>
          <a:solidFill>
            <a:srgbClr val="F4F8FB"/>
          </a:solidFill>
          <a:ln w="19050">
            <a:solidFill>
              <a:srgbClr val="FFFFFF"/>
            </a:solidFill>
            <a:prstDash val="solid"/>
          </a:ln>
        </p:spPr>
        <p:txBody>
          <a:bodyPr/>
          <a:lstStyle/>
          <a:p>
            <a:endParaRPr lang="en-US"/>
          </a:p>
        </p:txBody>
      </p:sp>
      <p:sp>
        <p:nvSpPr>
          <p:cNvPr id="114" name="Text 112"/>
          <p:cNvSpPr/>
          <p:nvPr/>
        </p:nvSpPr>
        <p:spPr>
          <a:xfrm>
            <a:off x="2815522" y="389285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10.0%</a:t>
            </a:r>
            <a:endParaRPr lang="en-US" sz="900" dirty="0"/>
          </a:p>
        </p:txBody>
      </p:sp>
      <p:sp>
        <p:nvSpPr>
          <p:cNvPr id="119" name="Shape 117"/>
          <p:cNvSpPr/>
          <p:nvPr/>
        </p:nvSpPr>
        <p:spPr>
          <a:xfrm>
            <a:off x="321989" y="4167170"/>
            <a:ext cx="1442803" cy="292608"/>
          </a:xfrm>
          <a:prstGeom prst="rect">
            <a:avLst/>
          </a:prstGeom>
          <a:solidFill>
            <a:srgbClr val="FEE2E2"/>
          </a:solidFill>
          <a:ln w="19050">
            <a:solidFill>
              <a:srgbClr val="FFFFFF"/>
            </a:solidFill>
            <a:prstDash val="solid"/>
          </a:ln>
        </p:spPr>
        <p:txBody>
          <a:bodyPr/>
          <a:lstStyle/>
          <a:p>
            <a:endParaRPr lang="en-US"/>
          </a:p>
        </p:txBody>
      </p:sp>
      <p:sp>
        <p:nvSpPr>
          <p:cNvPr id="120" name="Text 118"/>
          <p:cNvSpPr/>
          <p:nvPr/>
        </p:nvSpPr>
        <p:spPr>
          <a:xfrm>
            <a:off x="351369" y="4167170"/>
            <a:ext cx="1376847" cy="292608"/>
          </a:xfrm>
          <a:prstGeom prst="rect">
            <a:avLst/>
          </a:prstGeom>
          <a:noFill/>
          <a:ln/>
        </p:spPr>
        <p:txBody>
          <a:bodyPr wrap="square" rtlCol="0" anchor="ctr"/>
          <a:lstStyle/>
          <a:p>
            <a:pPr marL="0" indent="0" algn="l">
              <a:buNone/>
            </a:pPr>
            <a:r>
              <a:rPr lang="en-US" sz="900" b="1" dirty="0">
                <a:solidFill>
                  <a:srgbClr val="334155"/>
                </a:solidFill>
                <a:latin typeface="Calibri" pitchFamily="34" charset="0"/>
                <a:ea typeface="Calibri" pitchFamily="34" charset="-122"/>
                <a:cs typeface="Calibri" pitchFamily="34" charset="-120"/>
              </a:rPr>
              <a:t>29. Los Angeles Chargers</a:t>
            </a:r>
            <a:endParaRPr lang="en-US" sz="900" dirty="0"/>
          </a:p>
        </p:txBody>
      </p:sp>
      <p:sp>
        <p:nvSpPr>
          <p:cNvPr id="121" name="Shape 119"/>
          <p:cNvSpPr/>
          <p:nvPr/>
        </p:nvSpPr>
        <p:spPr>
          <a:xfrm>
            <a:off x="1745670" y="4167170"/>
            <a:ext cx="535898" cy="292608"/>
          </a:xfrm>
          <a:prstGeom prst="rect">
            <a:avLst/>
          </a:prstGeom>
          <a:solidFill>
            <a:srgbClr val="FEE2E2"/>
          </a:solidFill>
          <a:ln w="19050">
            <a:solidFill>
              <a:srgbClr val="FFFFFF"/>
            </a:solidFill>
            <a:prstDash val="solid"/>
          </a:ln>
        </p:spPr>
        <p:txBody>
          <a:bodyPr/>
          <a:lstStyle/>
          <a:p>
            <a:endParaRPr lang="en-US"/>
          </a:p>
        </p:txBody>
      </p:sp>
      <p:sp>
        <p:nvSpPr>
          <p:cNvPr id="122" name="Text 120"/>
          <p:cNvSpPr/>
          <p:nvPr/>
        </p:nvSpPr>
        <p:spPr>
          <a:xfrm>
            <a:off x="1742072" y="4167170"/>
            <a:ext cx="502920" cy="292608"/>
          </a:xfrm>
          <a:prstGeom prst="rect">
            <a:avLst/>
          </a:prstGeom>
          <a:noFill/>
          <a:ln/>
        </p:spPr>
        <p:txBody>
          <a:bodyPr wrap="square" rtlCol="0" anchor="ctr"/>
          <a:lstStyle/>
          <a:p>
            <a:pPr marL="0" indent="0" algn="ctr">
              <a:buNone/>
            </a:pPr>
            <a:r>
              <a:rPr lang="en-US" sz="900" b="1" dirty="0">
                <a:solidFill>
                  <a:srgbClr val="DC2626"/>
                </a:solidFill>
                <a:latin typeface="Calibri" pitchFamily="34" charset="0"/>
                <a:ea typeface="Calibri" pitchFamily="34" charset="-122"/>
                <a:cs typeface="Calibri" pitchFamily="34" charset="-120"/>
              </a:rPr>
              <a:t>−0.154</a:t>
            </a:r>
            <a:endParaRPr lang="en-US" sz="900" dirty="0"/>
          </a:p>
        </p:txBody>
      </p:sp>
      <p:sp>
        <p:nvSpPr>
          <p:cNvPr id="123" name="Shape 121"/>
          <p:cNvSpPr/>
          <p:nvPr/>
        </p:nvSpPr>
        <p:spPr>
          <a:xfrm>
            <a:off x="2291262" y="4167170"/>
            <a:ext cx="535898" cy="292608"/>
          </a:xfrm>
          <a:prstGeom prst="rect">
            <a:avLst/>
          </a:prstGeom>
          <a:solidFill>
            <a:srgbClr val="FEE2E2"/>
          </a:solidFill>
          <a:ln w="19050">
            <a:solidFill>
              <a:srgbClr val="FFFFFF"/>
            </a:solidFill>
            <a:prstDash val="solid"/>
          </a:ln>
        </p:spPr>
        <p:txBody>
          <a:bodyPr/>
          <a:lstStyle/>
          <a:p>
            <a:endParaRPr lang="en-US"/>
          </a:p>
        </p:txBody>
      </p:sp>
      <p:sp>
        <p:nvSpPr>
          <p:cNvPr id="124" name="Text 122"/>
          <p:cNvSpPr/>
          <p:nvPr/>
        </p:nvSpPr>
        <p:spPr>
          <a:xfrm>
            <a:off x="2287664" y="416717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71.7%</a:t>
            </a:r>
            <a:endParaRPr lang="en-US" sz="900" dirty="0"/>
          </a:p>
        </p:txBody>
      </p:sp>
      <p:sp>
        <p:nvSpPr>
          <p:cNvPr id="125" name="Shape 123"/>
          <p:cNvSpPr/>
          <p:nvPr/>
        </p:nvSpPr>
        <p:spPr>
          <a:xfrm>
            <a:off x="2819120" y="4167170"/>
            <a:ext cx="535898" cy="292608"/>
          </a:xfrm>
          <a:prstGeom prst="rect">
            <a:avLst/>
          </a:prstGeom>
          <a:solidFill>
            <a:srgbClr val="FEE2E2"/>
          </a:solidFill>
          <a:ln w="19050">
            <a:solidFill>
              <a:srgbClr val="FFFFFF"/>
            </a:solidFill>
            <a:prstDash val="solid"/>
          </a:ln>
        </p:spPr>
        <p:txBody>
          <a:bodyPr/>
          <a:lstStyle/>
          <a:p>
            <a:endParaRPr lang="en-US"/>
          </a:p>
        </p:txBody>
      </p:sp>
      <p:sp>
        <p:nvSpPr>
          <p:cNvPr id="126" name="Text 124"/>
          <p:cNvSpPr/>
          <p:nvPr/>
        </p:nvSpPr>
        <p:spPr>
          <a:xfrm>
            <a:off x="2815522" y="4167170"/>
            <a:ext cx="502920" cy="292608"/>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6.5%</a:t>
            </a:r>
            <a:endParaRPr lang="en-US" sz="900" dirty="0"/>
          </a:p>
        </p:txBody>
      </p:sp>
      <p:sp>
        <p:nvSpPr>
          <p:cNvPr id="129" name="Shape 127"/>
          <p:cNvSpPr/>
          <p:nvPr/>
        </p:nvSpPr>
        <p:spPr>
          <a:xfrm>
            <a:off x="274320" y="4901184"/>
            <a:ext cx="8595360" cy="0"/>
          </a:xfrm>
          <a:prstGeom prst="rect">
            <a:avLst/>
          </a:prstGeom>
          <a:solidFill>
            <a:srgbClr val="F4F8FB"/>
          </a:solidFill>
          <a:ln w="12700">
            <a:solidFill>
              <a:srgbClr val="F4F8FB"/>
            </a:solidFill>
            <a:prstDash val="solid"/>
          </a:ln>
        </p:spPr>
        <p:txBody>
          <a:bodyPr/>
          <a:lstStyle/>
          <a:p>
            <a:endParaRPr lang="en-US"/>
          </a:p>
        </p:txBody>
      </p:sp>
      <p:sp>
        <p:nvSpPr>
          <p:cNvPr id="130" name="Shape 128"/>
          <p:cNvSpPr/>
          <p:nvPr/>
        </p:nvSpPr>
        <p:spPr>
          <a:xfrm>
            <a:off x="70104" y="4942332"/>
            <a:ext cx="9144000" cy="219456"/>
          </a:xfrm>
          <a:prstGeom prst="rect">
            <a:avLst/>
          </a:prstGeom>
          <a:solidFill>
            <a:srgbClr val="0080C6"/>
          </a:solidFill>
          <a:ln w="12700">
            <a:solidFill>
              <a:srgbClr val="0080C6"/>
            </a:solidFill>
            <a:prstDash val="solid"/>
          </a:ln>
        </p:spPr>
        <p:txBody>
          <a:bodyPr/>
          <a:lstStyle/>
          <a:p>
            <a:endParaRPr lang="en-US"/>
          </a:p>
        </p:txBody>
      </p:sp>
      <p:sp>
        <p:nvSpPr>
          <p:cNvPr id="131" name="Text 129"/>
          <p:cNvSpPr/>
          <p:nvPr/>
        </p:nvSpPr>
        <p:spPr>
          <a:xfrm>
            <a:off x="2770632" y="4873752"/>
            <a:ext cx="8741664" cy="201168"/>
          </a:xfrm>
          <a:prstGeom prst="rect">
            <a:avLst/>
          </a:prstGeom>
          <a:noFill/>
          <a:ln/>
        </p:spPr>
        <p:txBody>
          <a:bodyPr wrap="square" rtlCol="0" anchor="ctr"/>
          <a:lstStyle/>
          <a:p>
            <a:pPr marL="0" indent="0" algn="ctr">
              <a:buNone/>
            </a:pPr>
            <a:endParaRPr lang="en-US" sz="950" dirty="0"/>
          </a:p>
        </p:txBody>
      </p:sp>
      <p:sp>
        <p:nvSpPr>
          <p:cNvPr id="133" name="TextBox 132">
            <a:extLst>
              <a:ext uri="{FF2B5EF4-FFF2-40B4-BE49-F238E27FC236}">
                <a16:creationId xmlns:a16="http://schemas.microsoft.com/office/drawing/2014/main" id="{FE1AFD92-5582-2569-773D-736F22F0AC0C}"/>
              </a:ext>
            </a:extLst>
          </p:cNvPr>
          <p:cNvSpPr txBox="1"/>
          <p:nvPr/>
        </p:nvSpPr>
        <p:spPr>
          <a:xfrm>
            <a:off x="821021" y="3362498"/>
            <a:ext cx="705473" cy="238527"/>
          </a:xfrm>
          <a:prstGeom prst="rect">
            <a:avLst/>
          </a:prstGeom>
          <a:noFill/>
        </p:spPr>
        <p:txBody>
          <a:bodyPr wrap="square">
            <a:spAutoFit/>
          </a:bodyPr>
          <a:lstStyle/>
          <a:p>
            <a:r>
              <a:rPr lang="en-US" sz="950" b="1" dirty="0">
                <a:solidFill>
                  <a:srgbClr val="FFFFFF"/>
                </a:solidFill>
                <a:latin typeface="Calibri" pitchFamily="34" charset="0"/>
                <a:ea typeface="Calibri" pitchFamily="34" charset="-122"/>
                <a:cs typeface="Calibri" pitchFamily="34" charset="-120"/>
              </a:rPr>
              <a:t>Team</a:t>
            </a:r>
            <a:endParaRPr lang="en-US" sz="950" dirty="0"/>
          </a:p>
        </p:txBody>
      </p:sp>
      <p:sp>
        <p:nvSpPr>
          <p:cNvPr id="138" name="Shape 119">
            <a:extLst>
              <a:ext uri="{FF2B5EF4-FFF2-40B4-BE49-F238E27FC236}">
                <a16:creationId xmlns:a16="http://schemas.microsoft.com/office/drawing/2014/main" id="{2AAA6B86-81A2-763F-0095-04E3B38C2BDE}"/>
              </a:ext>
            </a:extLst>
          </p:cNvPr>
          <p:cNvSpPr/>
          <p:nvPr/>
        </p:nvSpPr>
        <p:spPr>
          <a:xfrm>
            <a:off x="4700016" y="3051602"/>
            <a:ext cx="4343400" cy="1426464"/>
          </a:xfrm>
          <a:prstGeom prst="rect">
            <a:avLst/>
          </a:prstGeom>
          <a:solidFill>
            <a:srgbClr val="F4F8FB"/>
          </a:solidFill>
          <a:ln w="12700">
            <a:solidFill>
              <a:srgbClr val="F4F8FB"/>
            </a:solidFill>
            <a:prstDash val="solid"/>
          </a:ln>
        </p:spPr>
        <p:txBody>
          <a:bodyPr/>
          <a:lstStyle/>
          <a:p>
            <a:endParaRPr lang="en-US" dirty="0"/>
          </a:p>
        </p:txBody>
      </p:sp>
      <p:sp>
        <p:nvSpPr>
          <p:cNvPr id="139" name="Shape 120">
            <a:extLst>
              <a:ext uri="{FF2B5EF4-FFF2-40B4-BE49-F238E27FC236}">
                <a16:creationId xmlns:a16="http://schemas.microsoft.com/office/drawing/2014/main" id="{18F34164-A456-2A37-D073-2E7F7DA62B10}"/>
              </a:ext>
            </a:extLst>
          </p:cNvPr>
          <p:cNvSpPr/>
          <p:nvPr/>
        </p:nvSpPr>
        <p:spPr>
          <a:xfrm>
            <a:off x="4700016" y="3051602"/>
            <a:ext cx="54864" cy="1426464"/>
          </a:xfrm>
          <a:prstGeom prst="rect">
            <a:avLst/>
          </a:prstGeom>
          <a:solidFill>
            <a:srgbClr val="FFC20E"/>
          </a:solidFill>
          <a:ln w="12700">
            <a:solidFill>
              <a:srgbClr val="FFC20E"/>
            </a:solidFill>
            <a:prstDash val="solid"/>
          </a:ln>
        </p:spPr>
        <p:txBody>
          <a:bodyPr/>
          <a:lstStyle/>
          <a:p>
            <a:endParaRPr lang="en-US"/>
          </a:p>
        </p:txBody>
      </p:sp>
      <p:sp>
        <p:nvSpPr>
          <p:cNvPr id="140" name="Text 121">
            <a:extLst>
              <a:ext uri="{FF2B5EF4-FFF2-40B4-BE49-F238E27FC236}">
                <a16:creationId xmlns:a16="http://schemas.microsoft.com/office/drawing/2014/main" id="{5498B65D-D5B6-B9B7-10E2-DC8B18179EC9}"/>
              </a:ext>
            </a:extLst>
          </p:cNvPr>
          <p:cNvSpPr/>
          <p:nvPr/>
        </p:nvSpPr>
        <p:spPr>
          <a:xfrm>
            <a:off x="4828032" y="3106466"/>
            <a:ext cx="4114800" cy="237744"/>
          </a:xfrm>
          <a:prstGeom prst="rect">
            <a:avLst/>
          </a:prstGeom>
          <a:noFill/>
          <a:ln/>
        </p:spPr>
        <p:txBody>
          <a:bodyPr wrap="square" rtlCol="0" anchor="ctr"/>
          <a:lstStyle/>
          <a:p>
            <a:pPr marL="0" indent="0">
              <a:buNone/>
            </a:pPr>
            <a:r>
              <a:rPr lang="en-US" sz="1000" b="1" dirty="0">
                <a:solidFill>
                  <a:srgbClr val="0080C6"/>
                </a:solidFill>
                <a:latin typeface="Calibri" pitchFamily="34" charset="0"/>
                <a:ea typeface="Calibri" pitchFamily="34" charset="-122"/>
                <a:cs typeface="Calibri" pitchFamily="34" charset="-120"/>
              </a:rPr>
              <a:t>The Story</a:t>
            </a:r>
            <a:endParaRPr lang="en-US" sz="1000" dirty="0"/>
          </a:p>
        </p:txBody>
      </p:sp>
      <p:sp>
        <p:nvSpPr>
          <p:cNvPr id="141" name="Text 122">
            <a:extLst>
              <a:ext uri="{FF2B5EF4-FFF2-40B4-BE49-F238E27FC236}">
                <a16:creationId xmlns:a16="http://schemas.microsoft.com/office/drawing/2014/main" id="{DE8700C1-2A80-3222-E8C6-7893195ECC11}"/>
              </a:ext>
            </a:extLst>
          </p:cNvPr>
          <p:cNvSpPr/>
          <p:nvPr/>
        </p:nvSpPr>
        <p:spPr>
          <a:xfrm>
            <a:off x="4828032" y="3362498"/>
            <a:ext cx="4114800" cy="1042416"/>
          </a:xfrm>
          <a:prstGeom prst="rect">
            <a:avLst/>
          </a:prstGeom>
          <a:noFill/>
          <a:ln/>
        </p:spPr>
        <p:txBody>
          <a:bodyPr wrap="square" rtlCol="0" anchor="t"/>
          <a:lstStyle/>
          <a:p>
            <a:pPr marL="0" indent="0">
              <a:buNone/>
            </a:pPr>
            <a:r>
              <a:rPr lang="en-US" sz="950" dirty="0">
                <a:solidFill>
                  <a:srgbClr val="334155"/>
                </a:solidFill>
                <a:latin typeface="Calibri" pitchFamily="34" charset="0"/>
                <a:ea typeface="Calibri" pitchFamily="34" charset="-122"/>
                <a:cs typeface="Calibri" pitchFamily="34" charset="-120"/>
              </a:rPr>
              <a:t>LAC ran the ball on 2nd &amp; 1 or 2nd &amp; 2 nearly every time in 2025 in the exact situations where the data shows the highest value for a different call. LAC ran more than almost anyone and threw zero shots on their two most valuable 2nd down situations. The stark difference in EPA values, particularly on 2nd &amp; 2 challenge the conservative ”establish the run” approach represented in the play call tendencies.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0C6"/>
          </a:solidFill>
          <a:ln w="12700">
            <a:solidFill>
              <a:srgbClr val="0080C6"/>
            </a:solidFill>
            <a:prstDash val="solid"/>
          </a:ln>
        </p:spPr>
        <p:txBody>
          <a:bodyPr/>
          <a:lstStyle/>
          <a:p>
            <a:endParaRPr lang="en-US"/>
          </a:p>
        </p:txBody>
      </p:sp>
      <p:sp>
        <p:nvSpPr>
          <p:cNvPr id="3" name="Shape 1"/>
          <p:cNvSpPr/>
          <p:nvPr/>
        </p:nvSpPr>
        <p:spPr>
          <a:xfrm>
            <a:off x="0" y="54864"/>
            <a:ext cx="54864" cy="822960"/>
          </a:xfrm>
          <a:prstGeom prst="rect">
            <a:avLst/>
          </a:prstGeom>
          <a:solidFill>
            <a:srgbClr val="FFC20E"/>
          </a:solidFill>
          <a:ln w="12700">
            <a:solidFill>
              <a:srgbClr val="FFC20E"/>
            </a:solidFill>
            <a:prstDash val="solid"/>
          </a:ln>
        </p:spPr>
        <p:txBody>
          <a:bodyPr/>
          <a:lstStyle/>
          <a:p>
            <a:endParaRPr lang="en-US"/>
          </a:p>
        </p:txBody>
      </p:sp>
      <p:sp>
        <p:nvSpPr>
          <p:cNvPr id="4" name="Text 2"/>
          <p:cNvSpPr/>
          <p:nvPr/>
        </p:nvSpPr>
        <p:spPr>
          <a:xfrm>
            <a:off x="201168" y="91440"/>
            <a:ext cx="8686800" cy="438912"/>
          </a:xfrm>
          <a:prstGeom prst="rect">
            <a:avLst/>
          </a:prstGeom>
          <a:noFill/>
          <a:ln/>
        </p:spPr>
        <p:txBody>
          <a:bodyPr wrap="square" rtlCol="0" anchor="ctr"/>
          <a:lstStyle/>
          <a:p>
            <a:pPr marL="0" indent="0">
              <a:buNone/>
            </a:pPr>
            <a:r>
              <a:rPr lang="en-US" sz="2200" b="1" dirty="0">
                <a:solidFill>
                  <a:srgbClr val="0080C6"/>
                </a:solidFill>
                <a:latin typeface="Calibri" pitchFamily="34" charset="0"/>
                <a:ea typeface="Calibri" pitchFamily="34" charset="-122"/>
                <a:cs typeface="Calibri" pitchFamily="34" charset="-120"/>
              </a:rPr>
              <a:t>Example Call Sheet — Where Is the Value on 2nd &amp; Short?</a:t>
            </a:r>
            <a:endParaRPr lang="en-US" sz="2200" dirty="0"/>
          </a:p>
        </p:txBody>
      </p:sp>
      <p:sp>
        <p:nvSpPr>
          <p:cNvPr id="5" name="Text 3"/>
          <p:cNvSpPr/>
          <p:nvPr/>
        </p:nvSpPr>
        <p:spPr>
          <a:xfrm>
            <a:off x="201168" y="512064"/>
            <a:ext cx="8686800" cy="18288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Close game situations (score diff ≤7)  |  Best call type by field zone and distance </a:t>
            </a:r>
            <a:endParaRPr lang="en-US" sz="900" dirty="0"/>
          </a:p>
        </p:txBody>
      </p:sp>
      <p:sp>
        <p:nvSpPr>
          <p:cNvPr id="6" name="Shape 4"/>
          <p:cNvSpPr/>
          <p:nvPr/>
        </p:nvSpPr>
        <p:spPr>
          <a:xfrm>
            <a:off x="201168" y="768096"/>
            <a:ext cx="8741664" cy="0"/>
          </a:xfrm>
          <a:prstGeom prst="line">
            <a:avLst/>
          </a:prstGeom>
          <a:noFill/>
          <a:ln w="12700">
            <a:solidFill>
              <a:srgbClr val="F4F8FB"/>
            </a:solidFill>
            <a:prstDash val="solid"/>
          </a:ln>
        </p:spPr>
        <p:txBody>
          <a:bodyPr/>
          <a:lstStyle/>
          <a:p>
            <a:endParaRPr lang="en-US"/>
          </a:p>
        </p:txBody>
      </p:sp>
      <p:sp>
        <p:nvSpPr>
          <p:cNvPr id="7" name="Shape 5"/>
          <p:cNvSpPr/>
          <p:nvPr/>
        </p:nvSpPr>
        <p:spPr>
          <a:xfrm>
            <a:off x="637390" y="949362"/>
            <a:ext cx="1554480" cy="329184"/>
          </a:xfrm>
          <a:prstGeom prst="rect">
            <a:avLst/>
          </a:prstGeom>
          <a:solidFill>
            <a:srgbClr val="0080C6"/>
          </a:solidFill>
          <a:ln w="19050">
            <a:solidFill>
              <a:srgbClr val="FFFFFF"/>
            </a:solidFill>
            <a:prstDash val="solid"/>
          </a:ln>
        </p:spPr>
        <p:txBody>
          <a:bodyPr/>
          <a:lstStyle/>
          <a:p>
            <a:endParaRPr lang="en-US"/>
          </a:p>
        </p:txBody>
      </p:sp>
      <p:sp>
        <p:nvSpPr>
          <p:cNvPr id="8" name="Text 6"/>
          <p:cNvSpPr/>
          <p:nvPr/>
        </p:nvSpPr>
        <p:spPr>
          <a:xfrm>
            <a:off x="673966" y="949362"/>
            <a:ext cx="148132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Zone</a:t>
            </a:r>
            <a:endParaRPr lang="en-US" sz="950" dirty="0"/>
          </a:p>
        </p:txBody>
      </p:sp>
      <p:sp>
        <p:nvSpPr>
          <p:cNvPr id="9" name="Shape 7"/>
          <p:cNvSpPr/>
          <p:nvPr/>
        </p:nvSpPr>
        <p:spPr>
          <a:xfrm>
            <a:off x="2191870" y="949362"/>
            <a:ext cx="548640" cy="329184"/>
          </a:xfrm>
          <a:prstGeom prst="rect">
            <a:avLst/>
          </a:prstGeom>
          <a:solidFill>
            <a:srgbClr val="0080C6"/>
          </a:solidFill>
          <a:ln w="19050">
            <a:solidFill>
              <a:srgbClr val="FFFFFF"/>
            </a:solidFill>
            <a:prstDash val="solid"/>
          </a:ln>
        </p:spPr>
        <p:txBody>
          <a:bodyPr/>
          <a:lstStyle/>
          <a:p>
            <a:endParaRPr lang="en-US"/>
          </a:p>
        </p:txBody>
      </p:sp>
      <p:sp>
        <p:nvSpPr>
          <p:cNvPr id="10" name="Text 8"/>
          <p:cNvSpPr/>
          <p:nvPr/>
        </p:nvSpPr>
        <p:spPr>
          <a:xfrm>
            <a:off x="2228446" y="949362"/>
            <a:ext cx="47548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Dist</a:t>
            </a:r>
            <a:endParaRPr lang="en-US" sz="950" dirty="0"/>
          </a:p>
        </p:txBody>
      </p:sp>
      <p:sp>
        <p:nvSpPr>
          <p:cNvPr id="11" name="Shape 9"/>
          <p:cNvSpPr/>
          <p:nvPr/>
        </p:nvSpPr>
        <p:spPr>
          <a:xfrm>
            <a:off x="2740510" y="949362"/>
            <a:ext cx="960120" cy="329184"/>
          </a:xfrm>
          <a:prstGeom prst="rect">
            <a:avLst/>
          </a:prstGeom>
          <a:solidFill>
            <a:srgbClr val="0080C6"/>
          </a:solidFill>
          <a:ln w="19050">
            <a:solidFill>
              <a:srgbClr val="FFFFFF"/>
            </a:solidFill>
            <a:prstDash val="solid"/>
          </a:ln>
        </p:spPr>
        <p:txBody>
          <a:bodyPr/>
          <a:lstStyle/>
          <a:p>
            <a:endParaRPr lang="en-US"/>
          </a:p>
        </p:txBody>
      </p:sp>
      <p:sp>
        <p:nvSpPr>
          <p:cNvPr id="12" name="Text 10"/>
          <p:cNvSpPr/>
          <p:nvPr/>
        </p:nvSpPr>
        <p:spPr>
          <a:xfrm>
            <a:off x="2777086" y="949362"/>
            <a:ext cx="886968" cy="329184"/>
          </a:xfrm>
          <a:prstGeom prst="rect">
            <a:avLst/>
          </a:prstGeom>
          <a:noFill/>
          <a:ln/>
        </p:spPr>
        <p:txBody>
          <a:bodyPr wrap="square" rtlCol="0" anchor="ctr"/>
          <a:lstStyle/>
          <a:p>
            <a:pPr marL="0" indent="0" algn="ctr">
              <a:buNone/>
            </a:pPr>
            <a:r>
              <a:rPr lang="en-US" sz="950" b="1" dirty="0">
                <a:solidFill>
                  <a:srgbClr val="FFC20E"/>
                </a:solidFill>
                <a:latin typeface="Calibri" pitchFamily="34" charset="0"/>
                <a:ea typeface="Calibri" pitchFamily="34" charset="-122"/>
                <a:cs typeface="Calibri" pitchFamily="34" charset="-120"/>
              </a:rPr>
              <a:t>Best Call</a:t>
            </a:r>
            <a:endParaRPr lang="en-US" sz="950" dirty="0"/>
          </a:p>
        </p:txBody>
      </p:sp>
      <p:sp>
        <p:nvSpPr>
          <p:cNvPr id="13" name="Shape 11"/>
          <p:cNvSpPr/>
          <p:nvPr/>
        </p:nvSpPr>
        <p:spPr>
          <a:xfrm>
            <a:off x="3700630" y="949362"/>
            <a:ext cx="804672" cy="329184"/>
          </a:xfrm>
          <a:prstGeom prst="rect">
            <a:avLst/>
          </a:prstGeom>
          <a:solidFill>
            <a:srgbClr val="0080C6"/>
          </a:solidFill>
          <a:ln w="19050">
            <a:solidFill>
              <a:srgbClr val="FFFFFF"/>
            </a:solidFill>
            <a:prstDash val="solid"/>
          </a:ln>
        </p:spPr>
        <p:txBody>
          <a:bodyPr/>
          <a:lstStyle/>
          <a:p>
            <a:endParaRPr lang="en-US"/>
          </a:p>
        </p:txBody>
      </p:sp>
      <p:sp>
        <p:nvSpPr>
          <p:cNvPr id="14" name="Text 12"/>
          <p:cNvSpPr/>
          <p:nvPr/>
        </p:nvSpPr>
        <p:spPr>
          <a:xfrm>
            <a:off x="3737206" y="949362"/>
            <a:ext cx="731520"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EPA</a:t>
            </a:r>
            <a:endParaRPr lang="en-US" sz="950" dirty="0"/>
          </a:p>
        </p:txBody>
      </p:sp>
      <p:sp>
        <p:nvSpPr>
          <p:cNvPr id="15" name="Shape 13"/>
          <p:cNvSpPr/>
          <p:nvPr/>
        </p:nvSpPr>
        <p:spPr>
          <a:xfrm>
            <a:off x="4505302" y="949362"/>
            <a:ext cx="822960" cy="329184"/>
          </a:xfrm>
          <a:prstGeom prst="rect">
            <a:avLst/>
          </a:prstGeom>
          <a:solidFill>
            <a:srgbClr val="0080C6"/>
          </a:solidFill>
          <a:ln w="19050">
            <a:solidFill>
              <a:srgbClr val="FFFFFF"/>
            </a:solidFill>
            <a:prstDash val="solid"/>
          </a:ln>
        </p:spPr>
        <p:txBody>
          <a:bodyPr/>
          <a:lstStyle/>
          <a:p>
            <a:endParaRPr lang="en-US"/>
          </a:p>
        </p:txBody>
      </p:sp>
      <p:sp>
        <p:nvSpPr>
          <p:cNvPr id="16" name="Text 14"/>
          <p:cNvSpPr/>
          <p:nvPr/>
        </p:nvSpPr>
        <p:spPr>
          <a:xfrm>
            <a:off x="4487014" y="932688"/>
            <a:ext cx="859536"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1st Down %</a:t>
            </a:r>
            <a:endParaRPr lang="en-US" sz="950" dirty="0"/>
          </a:p>
        </p:txBody>
      </p:sp>
      <p:sp>
        <p:nvSpPr>
          <p:cNvPr id="17" name="Shape 15"/>
          <p:cNvSpPr/>
          <p:nvPr/>
        </p:nvSpPr>
        <p:spPr>
          <a:xfrm>
            <a:off x="5328262" y="949362"/>
            <a:ext cx="804672" cy="329184"/>
          </a:xfrm>
          <a:prstGeom prst="rect">
            <a:avLst/>
          </a:prstGeom>
          <a:solidFill>
            <a:srgbClr val="0080C6"/>
          </a:solidFill>
          <a:ln w="19050">
            <a:solidFill>
              <a:srgbClr val="FFFFFF"/>
            </a:solidFill>
            <a:prstDash val="solid"/>
          </a:ln>
        </p:spPr>
        <p:txBody>
          <a:bodyPr/>
          <a:lstStyle/>
          <a:p>
            <a:endParaRPr lang="en-US"/>
          </a:p>
        </p:txBody>
      </p:sp>
      <p:sp>
        <p:nvSpPr>
          <p:cNvPr id="18" name="Text 16"/>
          <p:cNvSpPr/>
          <p:nvPr/>
        </p:nvSpPr>
        <p:spPr>
          <a:xfrm>
            <a:off x="5291686" y="949362"/>
            <a:ext cx="87782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Explosive %</a:t>
            </a:r>
            <a:endParaRPr lang="en-US" sz="950" dirty="0"/>
          </a:p>
        </p:txBody>
      </p:sp>
      <p:sp>
        <p:nvSpPr>
          <p:cNvPr id="19" name="Shape 17"/>
          <p:cNvSpPr/>
          <p:nvPr/>
        </p:nvSpPr>
        <p:spPr>
          <a:xfrm>
            <a:off x="6132934" y="949362"/>
            <a:ext cx="2276856" cy="329184"/>
          </a:xfrm>
          <a:prstGeom prst="rect">
            <a:avLst/>
          </a:prstGeom>
          <a:solidFill>
            <a:srgbClr val="0080C6"/>
          </a:solidFill>
          <a:ln w="19050">
            <a:solidFill>
              <a:srgbClr val="FFFFFF"/>
            </a:solidFill>
            <a:prstDash val="solid"/>
          </a:ln>
        </p:spPr>
        <p:txBody>
          <a:bodyPr/>
          <a:lstStyle/>
          <a:p>
            <a:endParaRPr lang="en-US"/>
          </a:p>
        </p:txBody>
      </p:sp>
      <p:sp>
        <p:nvSpPr>
          <p:cNvPr id="20" name="Text 18"/>
          <p:cNvSpPr/>
          <p:nvPr/>
        </p:nvSpPr>
        <p:spPr>
          <a:xfrm>
            <a:off x="6169510" y="949362"/>
            <a:ext cx="220370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Notes</a:t>
            </a:r>
            <a:endParaRPr lang="en-US" sz="950" dirty="0"/>
          </a:p>
        </p:txBody>
      </p:sp>
      <p:sp>
        <p:nvSpPr>
          <p:cNvPr id="21" name="Shape 19"/>
          <p:cNvSpPr/>
          <p:nvPr/>
        </p:nvSpPr>
        <p:spPr>
          <a:xfrm>
            <a:off x="637390" y="1278546"/>
            <a:ext cx="1554480" cy="402336"/>
          </a:xfrm>
          <a:prstGeom prst="rect">
            <a:avLst/>
          </a:prstGeom>
          <a:solidFill>
            <a:srgbClr val="F4F8FB"/>
          </a:solidFill>
          <a:ln w="19050">
            <a:solidFill>
              <a:srgbClr val="FFFFFF"/>
            </a:solidFill>
            <a:prstDash val="solid"/>
          </a:ln>
        </p:spPr>
        <p:txBody>
          <a:bodyPr/>
          <a:lstStyle/>
          <a:p>
            <a:endParaRPr lang="en-US"/>
          </a:p>
        </p:txBody>
      </p:sp>
      <p:sp>
        <p:nvSpPr>
          <p:cNvPr id="22" name="Text 20"/>
          <p:cNvSpPr/>
          <p:nvPr/>
        </p:nvSpPr>
        <p:spPr>
          <a:xfrm>
            <a:off x="747118" y="1278546"/>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Own Territory</a:t>
            </a:r>
            <a:endParaRPr lang="en-US" sz="900" dirty="0"/>
          </a:p>
        </p:txBody>
      </p:sp>
      <p:sp>
        <p:nvSpPr>
          <p:cNvPr id="23" name="Shape 21"/>
          <p:cNvSpPr/>
          <p:nvPr/>
        </p:nvSpPr>
        <p:spPr>
          <a:xfrm>
            <a:off x="2191870" y="1278546"/>
            <a:ext cx="548640" cy="402336"/>
          </a:xfrm>
          <a:prstGeom prst="rect">
            <a:avLst/>
          </a:prstGeom>
          <a:solidFill>
            <a:srgbClr val="F4F8FB"/>
          </a:solidFill>
          <a:ln w="19050">
            <a:solidFill>
              <a:srgbClr val="FFFFFF"/>
            </a:solidFill>
            <a:prstDash val="solid"/>
          </a:ln>
        </p:spPr>
        <p:txBody>
          <a:bodyPr/>
          <a:lstStyle/>
          <a:p>
            <a:endParaRPr lang="en-US"/>
          </a:p>
        </p:txBody>
      </p:sp>
      <p:sp>
        <p:nvSpPr>
          <p:cNvPr id="24" name="Text 22"/>
          <p:cNvSpPr/>
          <p:nvPr/>
        </p:nvSpPr>
        <p:spPr>
          <a:xfrm>
            <a:off x="2228446" y="1278546"/>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&amp;1</a:t>
            </a:r>
            <a:endParaRPr lang="en-US" sz="900" dirty="0"/>
          </a:p>
        </p:txBody>
      </p:sp>
      <p:sp>
        <p:nvSpPr>
          <p:cNvPr id="25" name="Shape 23"/>
          <p:cNvSpPr/>
          <p:nvPr/>
        </p:nvSpPr>
        <p:spPr>
          <a:xfrm>
            <a:off x="2740510" y="1278546"/>
            <a:ext cx="960120" cy="402336"/>
          </a:xfrm>
          <a:prstGeom prst="rect">
            <a:avLst/>
          </a:prstGeom>
          <a:solidFill>
            <a:srgbClr val="F4F8FB"/>
          </a:solidFill>
          <a:ln w="19050">
            <a:solidFill>
              <a:srgbClr val="FFFFFF"/>
            </a:solidFill>
            <a:prstDash val="solid"/>
          </a:ln>
        </p:spPr>
        <p:txBody>
          <a:bodyPr/>
          <a:lstStyle/>
          <a:p>
            <a:endParaRPr lang="en-US"/>
          </a:p>
        </p:txBody>
      </p:sp>
      <p:sp>
        <p:nvSpPr>
          <p:cNvPr id="26" name="Text 24"/>
          <p:cNvSpPr/>
          <p:nvPr/>
        </p:nvSpPr>
        <p:spPr>
          <a:xfrm>
            <a:off x="2777086" y="1278546"/>
            <a:ext cx="886968" cy="402336"/>
          </a:xfrm>
          <a:prstGeom prst="rect">
            <a:avLst/>
          </a:prstGeom>
          <a:noFill/>
          <a:ln/>
        </p:spPr>
        <p:txBody>
          <a:bodyPr wrap="square" rtlCol="0" anchor="ctr"/>
          <a:lstStyle/>
          <a:p>
            <a:pPr marL="0" indent="0" algn="ctr">
              <a:buNone/>
            </a:pPr>
            <a:r>
              <a:rPr lang="en-US" sz="900" dirty="0">
                <a:solidFill>
                  <a:srgbClr val="0080C6"/>
                </a:solidFill>
                <a:latin typeface="Calibri" pitchFamily="34" charset="0"/>
                <a:ea typeface="Calibri" pitchFamily="34" charset="-122"/>
                <a:cs typeface="Calibri" pitchFamily="34" charset="-120"/>
              </a:rPr>
              <a:t>Run</a:t>
            </a:r>
            <a:endParaRPr lang="en-US" sz="900" dirty="0"/>
          </a:p>
        </p:txBody>
      </p:sp>
      <p:sp>
        <p:nvSpPr>
          <p:cNvPr id="27" name="Shape 25"/>
          <p:cNvSpPr/>
          <p:nvPr/>
        </p:nvSpPr>
        <p:spPr>
          <a:xfrm>
            <a:off x="3700630" y="1278546"/>
            <a:ext cx="804672" cy="402336"/>
          </a:xfrm>
          <a:prstGeom prst="rect">
            <a:avLst/>
          </a:prstGeom>
          <a:solidFill>
            <a:srgbClr val="F4F8FB"/>
          </a:solidFill>
          <a:ln w="19050">
            <a:solidFill>
              <a:srgbClr val="FFFFFF"/>
            </a:solidFill>
            <a:prstDash val="solid"/>
          </a:ln>
        </p:spPr>
        <p:txBody>
          <a:bodyPr/>
          <a:lstStyle/>
          <a:p>
            <a:endParaRPr lang="en-US"/>
          </a:p>
        </p:txBody>
      </p:sp>
      <p:sp>
        <p:nvSpPr>
          <p:cNvPr id="28" name="Text 26"/>
          <p:cNvSpPr/>
          <p:nvPr/>
        </p:nvSpPr>
        <p:spPr>
          <a:xfrm>
            <a:off x="3737206" y="1278546"/>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+0.160</a:t>
            </a:r>
            <a:endParaRPr lang="en-US" sz="900" dirty="0"/>
          </a:p>
        </p:txBody>
      </p:sp>
      <p:sp>
        <p:nvSpPr>
          <p:cNvPr id="29" name="Shape 27"/>
          <p:cNvSpPr/>
          <p:nvPr/>
        </p:nvSpPr>
        <p:spPr>
          <a:xfrm>
            <a:off x="4505302" y="1278546"/>
            <a:ext cx="822960" cy="402336"/>
          </a:xfrm>
          <a:prstGeom prst="rect">
            <a:avLst/>
          </a:prstGeom>
          <a:solidFill>
            <a:srgbClr val="F4F8FB"/>
          </a:solidFill>
          <a:ln w="19050">
            <a:solidFill>
              <a:srgbClr val="FFFFFF"/>
            </a:solidFill>
            <a:prstDash val="solid"/>
          </a:ln>
        </p:spPr>
        <p:txBody>
          <a:bodyPr/>
          <a:lstStyle/>
          <a:p>
            <a:endParaRPr lang="en-US"/>
          </a:p>
        </p:txBody>
      </p:sp>
      <p:sp>
        <p:nvSpPr>
          <p:cNvPr id="30" name="Text 28"/>
          <p:cNvSpPr/>
          <p:nvPr/>
        </p:nvSpPr>
        <p:spPr>
          <a:xfrm>
            <a:off x="4541878" y="1278546"/>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84.8%</a:t>
            </a:r>
            <a:endParaRPr lang="en-US" sz="900" dirty="0"/>
          </a:p>
        </p:txBody>
      </p:sp>
      <p:sp>
        <p:nvSpPr>
          <p:cNvPr id="31" name="Shape 29"/>
          <p:cNvSpPr/>
          <p:nvPr/>
        </p:nvSpPr>
        <p:spPr>
          <a:xfrm>
            <a:off x="5328262" y="1278546"/>
            <a:ext cx="804672" cy="402336"/>
          </a:xfrm>
          <a:prstGeom prst="rect">
            <a:avLst/>
          </a:prstGeom>
          <a:solidFill>
            <a:srgbClr val="F4F8FB"/>
          </a:solidFill>
          <a:ln w="19050">
            <a:solidFill>
              <a:srgbClr val="FFFFFF"/>
            </a:solidFill>
            <a:prstDash val="solid"/>
          </a:ln>
        </p:spPr>
        <p:txBody>
          <a:bodyPr/>
          <a:lstStyle/>
          <a:p>
            <a:endParaRPr lang="en-US"/>
          </a:p>
        </p:txBody>
      </p:sp>
      <p:sp>
        <p:nvSpPr>
          <p:cNvPr id="32" name="Text 30"/>
          <p:cNvSpPr/>
          <p:nvPr/>
        </p:nvSpPr>
        <p:spPr>
          <a:xfrm>
            <a:off x="5364838" y="1278546"/>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6.1%</a:t>
            </a:r>
            <a:endParaRPr lang="en-US" sz="900" dirty="0"/>
          </a:p>
        </p:txBody>
      </p:sp>
      <p:sp>
        <p:nvSpPr>
          <p:cNvPr id="33" name="Shape 31"/>
          <p:cNvSpPr/>
          <p:nvPr/>
        </p:nvSpPr>
        <p:spPr>
          <a:xfrm>
            <a:off x="6132934" y="1278546"/>
            <a:ext cx="2276856" cy="402336"/>
          </a:xfrm>
          <a:prstGeom prst="rect">
            <a:avLst/>
          </a:prstGeom>
          <a:solidFill>
            <a:srgbClr val="F4F8FB"/>
          </a:solidFill>
          <a:ln w="19050">
            <a:solidFill>
              <a:srgbClr val="FFFFFF"/>
            </a:solidFill>
            <a:prstDash val="solid"/>
          </a:ln>
        </p:spPr>
        <p:txBody>
          <a:bodyPr/>
          <a:lstStyle/>
          <a:p>
            <a:endParaRPr lang="en-US"/>
          </a:p>
        </p:txBody>
      </p:sp>
      <p:sp>
        <p:nvSpPr>
          <p:cNvPr id="34" name="Text 32"/>
          <p:cNvSpPr/>
          <p:nvPr/>
        </p:nvSpPr>
        <p:spPr>
          <a:xfrm>
            <a:off x="6242662" y="1278546"/>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Defense is set — run it, get the first down and move on.</a:t>
            </a:r>
            <a:endParaRPr lang="en-US" sz="850" dirty="0"/>
          </a:p>
        </p:txBody>
      </p:sp>
      <p:sp>
        <p:nvSpPr>
          <p:cNvPr id="35" name="Shape 33"/>
          <p:cNvSpPr/>
          <p:nvPr/>
        </p:nvSpPr>
        <p:spPr>
          <a:xfrm>
            <a:off x="637390" y="1699170"/>
            <a:ext cx="1554480" cy="402336"/>
          </a:xfrm>
          <a:prstGeom prst="rect">
            <a:avLst/>
          </a:prstGeom>
          <a:solidFill>
            <a:srgbClr val="FFFFFF"/>
          </a:solidFill>
          <a:ln w="19050">
            <a:solidFill>
              <a:srgbClr val="FFFFFF"/>
            </a:solidFill>
            <a:prstDash val="solid"/>
          </a:ln>
        </p:spPr>
        <p:txBody>
          <a:bodyPr/>
          <a:lstStyle/>
          <a:p>
            <a:endParaRPr lang="en-US"/>
          </a:p>
        </p:txBody>
      </p:sp>
      <p:sp>
        <p:nvSpPr>
          <p:cNvPr id="36" name="Text 34"/>
          <p:cNvSpPr/>
          <p:nvPr/>
        </p:nvSpPr>
        <p:spPr>
          <a:xfrm>
            <a:off x="747118" y="1699170"/>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Own Territory</a:t>
            </a:r>
            <a:endParaRPr lang="en-US" sz="900" dirty="0"/>
          </a:p>
        </p:txBody>
      </p:sp>
      <p:sp>
        <p:nvSpPr>
          <p:cNvPr id="37" name="Shape 35"/>
          <p:cNvSpPr/>
          <p:nvPr/>
        </p:nvSpPr>
        <p:spPr>
          <a:xfrm>
            <a:off x="2191870" y="1699170"/>
            <a:ext cx="548640" cy="402336"/>
          </a:xfrm>
          <a:prstGeom prst="rect">
            <a:avLst/>
          </a:prstGeom>
          <a:solidFill>
            <a:srgbClr val="FFFFFF"/>
          </a:solidFill>
          <a:ln w="19050">
            <a:solidFill>
              <a:srgbClr val="FFFFFF"/>
            </a:solidFill>
            <a:prstDash val="solid"/>
          </a:ln>
        </p:spPr>
        <p:txBody>
          <a:bodyPr/>
          <a:lstStyle/>
          <a:p>
            <a:endParaRPr lang="en-US"/>
          </a:p>
        </p:txBody>
      </p:sp>
      <p:sp>
        <p:nvSpPr>
          <p:cNvPr id="38" name="Text 36"/>
          <p:cNvSpPr/>
          <p:nvPr/>
        </p:nvSpPr>
        <p:spPr>
          <a:xfrm>
            <a:off x="2228446" y="1699170"/>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&amp;2</a:t>
            </a:r>
            <a:endParaRPr lang="en-US" sz="900" dirty="0"/>
          </a:p>
        </p:txBody>
      </p:sp>
      <p:sp>
        <p:nvSpPr>
          <p:cNvPr id="39" name="Shape 37"/>
          <p:cNvSpPr/>
          <p:nvPr/>
        </p:nvSpPr>
        <p:spPr>
          <a:xfrm>
            <a:off x="2740510" y="1699170"/>
            <a:ext cx="960120" cy="402336"/>
          </a:xfrm>
          <a:prstGeom prst="rect">
            <a:avLst/>
          </a:prstGeom>
          <a:solidFill>
            <a:srgbClr val="FFFFFF"/>
          </a:solidFill>
          <a:ln w="19050">
            <a:solidFill>
              <a:srgbClr val="FFFFFF"/>
            </a:solidFill>
            <a:prstDash val="solid"/>
          </a:ln>
        </p:spPr>
        <p:txBody>
          <a:bodyPr/>
          <a:lstStyle/>
          <a:p>
            <a:endParaRPr lang="en-US"/>
          </a:p>
        </p:txBody>
      </p:sp>
      <p:sp>
        <p:nvSpPr>
          <p:cNvPr id="40" name="Text 38"/>
          <p:cNvSpPr/>
          <p:nvPr/>
        </p:nvSpPr>
        <p:spPr>
          <a:xfrm>
            <a:off x="2777086" y="1699170"/>
            <a:ext cx="886968" cy="402336"/>
          </a:xfrm>
          <a:prstGeom prst="rect">
            <a:avLst/>
          </a:prstGeom>
          <a:noFill/>
          <a:ln/>
        </p:spPr>
        <p:txBody>
          <a:bodyPr wrap="square" rtlCol="0" anchor="ctr"/>
          <a:lstStyle/>
          <a:p>
            <a:pPr marL="0" indent="0" algn="ctr">
              <a:buNone/>
            </a:pPr>
            <a:r>
              <a:rPr lang="en-US" sz="900" dirty="0">
                <a:solidFill>
                  <a:srgbClr val="0080C6"/>
                </a:solidFill>
                <a:latin typeface="Calibri" pitchFamily="34" charset="0"/>
                <a:ea typeface="Calibri" pitchFamily="34" charset="-122"/>
                <a:cs typeface="Calibri" pitchFamily="34" charset="-120"/>
              </a:rPr>
              <a:t>Run</a:t>
            </a:r>
            <a:endParaRPr lang="en-US" sz="900" dirty="0"/>
          </a:p>
        </p:txBody>
      </p:sp>
      <p:sp>
        <p:nvSpPr>
          <p:cNvPr id="41" name="Shape 39"/>
          <p:cNvSpPr/>
          <p:nvPr/>
        </p:nvSpPr>
        <p:spPr>
          <a:xfrm>
            <a:off x="3700630" y="1699170"/>
            <a:ext cx="804672" cy="402336"/>
          </a:xfrm>
          <a:prstGeom prst="rect">
            <a:avLst/>
          </a:prstGeom>
          <a:solidFill>
            <a:srgbClr val="FFFFFF"/>
          </a:solidFill>
          <a:ln w="19050">
            <a:solidFill>
              <a:srgbClr val="FFFFFF"/>
            </a:solidFill>
            <a:prstDash val="solid"/>
          </a:ln>
        </p:spPr>
        <p:txBody>
          <a:bodyPr/>
          <a:lstStyle/>
          <a:p>
            <a:endParaRPr lang="en-US"/>
          </a:p>
        </p:txBody>
      </p:sp>
      <p:sp>
        <p:nvSpPr>
          <p:cNvPr id="42" name="Text 40"/>
          <p:cNvSpPr/>
          <p:nvPr/>
        </p:nvSpPr>
        <p:spPr>
          <a:xfrm>
            <a:off x="3737206" y="1699170"/>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+0.165</a:t>
            </a:r>
            <a:endParaRPr lang="en-US" sz="900" dirty="0"/>
          </a:p>
        </p:txBody>
      </p:sp>
      <p:sp>
        <p:nvSpPr>
          <p:cNvPr id="43" name="Shape 41"/>
          <p:cNvSpPr/>
          <p:nvPr/>
        </p:nvSpPr>
        <p:spPr>
          <a:xfrm>
            <a:off x="4505302" y="1699170"/>
            <a:ext cx="822960" cy="402336"/>
          </a:xfrm>
          <a:prstGeom prst="rect">
            <a:avLst/>
          </a:prstGeom>
          <a:solidFill>
            <a:srgbClr val="FFFFFF"/>
          </a:solidFill>
          <a:ln w="19050">
            <a:solidFill>
              <a:srgbClr val="FFFFFF"/>
            </a:solidFill>
            <a:prstDash val="solid"/>
          </a:ln>
        </p:spPr>
        <p:txBody>
          <a:bodyPr/>
          <a:lstStyle/>
          <a:p>
            <a:endParaRPr lang="en-US"/>
          </a:p>
        </p:txBody>
      </p:sp>
      <p:sp>
        <p:nvSpPr>
          <p:cNvPr id="44" name="Text 42"/>
          <p:cNvSpPr/>
          <p:nvPr/>
        </p:nvSpPr>
        <p:spPr>
          <a:xfrm>
            <a:off x="4541878" y="1699170"/>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70.0%</a:t>
            </a:r>
            <a:endParaRPr lang="en-US" sz="900" dirty="0"/>
          </a:p>
        </p:txBody>
      </p:sp>
      <p:sp>
        <p:nvSpPr>
          <p:cNvPr id="45" name="Shape 43"/>
          <p:cNvSpPr/>
          <p:nvPr/>
        </p:nvSpPr>
        <p:spPr>
          <a:xfrm>
            <a:off x="5328262" y="1699170"/>
            <a:ext cx="804672" cy="402336"/>
          </a:xfrm>
          <a:prstGeom prst="rect">
            <a:avLst/>
          </a:prstGeom>
          <a:solidFill>
            <a:srgbClr val="FFFFFF"/>
          </a:solidFill>
          <a:ln w="19050">
            <a:solidFill>
              <a:srgbClr val="FFFFFF"/>
            </a:solidFill>
            <a:prstDash val="solid"/>
          </a:ln>
        </p:spPr>
        <p:txBody>
          <a:bodyPr/>
          <a:lstStyle/>
          <a:p>
            <a:endParaRPr lang="en-US"/>
          </a:p>
        </p:txBody>
      </p:sp>
      <p:sp>
        <p:nvSpPr>
          <p:cNvPr id="46" name="Text 44"/>
          <p:cNvSpPr/>
          <p:nvPr/>
        </p:nvSpPr>
        <p:spPr>
          <a:xfrm>
            <a:off x="5364838" y="1699170"/>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6.2%</a:t>
            </a:r>
            <a:endParaRPr lang="en-US" sz="900" dirty="0"/>
          </a:p>
        </p:txBody>
      </p:sp>
      <p:sp>
        <p:nvSpPr>
          <p:cNvPr id="47" name="Shape 45"/>
          <p:cNvSpPr/>
          <p:nvPr/>
        </p:nvSpPr>
        <p:spPr>
          <a:xfrm>
            <a:off x="6132934" y="1699170"/>
            <a:ext cx="2276856" cy="402336"/>
          </a:xfrm>
          <a:prstGeom prst="rect">
            <a:avLst/>
          </a:prstGeom>
          <a:solidFill>
            <a:srgbClr val="FFFFFF"/>
          </a:solidFill>
          <a:ln w="19050">
            <a:solidFill>
              <a:srgbClr val="FFFFFF"/>
            </a:solidFill>
            <a:prstDash val="solid"/>
          </a:ln>
        </p:spPr>
        <p:txBody>
          <a:bodyPr/>
          <a:lstStyle/>
          <a:p>
            <a:endParaRPr lang="en-US"/>
          </a:p>
        </p:txBody>
      </p:sp>
      <p:sp>
        <p:nvSpPr>
          <p:cNvPr id="48" name="Text 46"/>
          <p:cNvSpPr/>
          <p:nvPr/>
        </p:nvSpPr>
        <p:spPr>
          <a:xfrm>
            <a:off x="6242662" y="1699170"/>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Deep enough that field position risk outweighs shot upside.</a:t>
            </a:r>
            <a:endParaRPr lang="en-US" sz="850" dirty="0"/>
          </a:p>
        </p:txBody>
      </p:sp>
      <p:sp>
        <p:nvSpPr>
          <p:cNvPr id="49" name="Shape 47"/>
          <p:cNvSpPr/>
          <p:nvPr/>
        </p:nvSpPr>
        <p:spPr>
          <a:xfrm>
            <a:off x="637390" y="2119794"/>
            <a:ext cx="1554480" cy="402336"/>
          </a:xfrm>
          <a:prstGeom prst="rect">
            <a:avLst/>
          </a:prstGeom>
          <a:solidFill>
            <a:srgbClr val="F4F8FB"/>
          </a:solidFill>
          <a:ln w="19050">
            <a:solidFill>
              <a:srgbClr val="FFFFFF"/>
            </a:solidFill>
            <a:prstDash val="solid"/>
          </a:ln>
        </p:spPr>
        <p:txBody>
          <a:bodyPr/>
          <a:lstStyle/>
          <a:p>
            <a:endParaRPr lang="en-US"/>
          </a:p>
        </p:txBody>
      </p:sp>
      <p:sp>
        <p:nvSpPr>
          <p:cNvPr id="50" name="Text 48"/>
          <p:cNvSpPr/>
          <p:nvPr/>
        </p:nvSpPr>
        <p:spPr>
          <a:xfrm>
            <a:off x="747118" y="2119794"/>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Midfield</a:t>
            </a:r>
            <a:endParaRPr lang="en-US" sz="900" dirty="0"/>
          </a:p>
        </p:txBody>
      </p:sp>
      <p:sp>
        <p:nvSpPr>
          <p:cNvPr id="51" name="Shape 49"/>
          <p:cNvSpPr/>
          <p:nvPr/>
        </p:nvSpPr>
        <p:spPr>
          <a:xfrm>
            <a:off x="2191870" y="2119794"/>
            <a:ext cx="548640" cy="402336"/>
          </a:xfrm>
          <a:prstGeom prst="rect">
            <a:avLst/>
          </a:prstGeom>
          <a:solidFill>
            <a:srgbClr val="F4F8FB"/>
          </a:solidFill>
          <a:ln w="19050">
            <a:solidFill>
              <a:srgbClr val="FFFFFF"/>
            </a:solidFill>
            <a:prstDash val="solid"/>
          </a:ln>
        </p:spPr>
        <p:txBody>
          <a:bodyPr/>
          <a:lstStyle/>
          <a:p>
            <a:endParaRPr lang="en-US"/>
          </a:p>
        </p:txBody>
      </p:sp>
      <p:sp>
        <p:nvSpPr>
          <p:cNvPr id="52" name="Text 50"/>
          <p:cNvSpPr/>
          <p:nvPr/>
        </p:nvSpPr>
        <p:spPr>
          <a:xfrm>
            <a:off x="2228446" y="2119794"/>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&amp;1</a:t>
            </a:r>
            <a:endParaRPr lang="en-US" sz="900" dirty="0"/>
          </a:p>
        </p:txBody>
      </p:sp>
      <p:sp>
        <p:nvSpPr>
          <p:cNvPr id="53" name="Shape 51"/>
          <p:cNvSpPr/>
          <p:nvPr/>
        </p:nvSpPr>
        <p:spPr>
          <a:xfrm>
            <a:off x="2740510" y="2119794"/>
            <a:ext cx="960120" cy="402336"/>
          </a:xfrm>
          <a:prstGeom prst="rect">
            <a:avLst/>
          </a:prstGeom>
          <a:solidFill>
            <a:srgbClr val="F4F8FB"/>
          </a:solidFill>
          <a:ln w="19050">
            <a:solidFill>
              <a:srgbClr val="FFFFFF"/>
            </a:solidFill>
            <a:prstDash val="solid"/>
          </a:ln>
        </p:spPr>
        <p:txBody>
          <a:bodyPr/>
          <a:lstStyle/>
          <a:p>
            <a:endParaRPr lang="en-US"/>
          </a:p>
        </p:txBody>
      </p:sp>
      <p:sp>
        <p:nvSpPr>
          <p:cNvPr id="54" name="Text 52"/>
          <p:cNvSpPr/>
          <p:nvPr/>
        </p:nvSpPr>
        <p:spPr>
          <a:xfrm>
            <a:off x="2777086" y="2119794"/>
            <a:ext cx="886968" cy="402336"/>
          </a:xfrm>
          <a:prstGeom prst="rect">
            <a:avLst/>
          </a:prstGeom>
          <a:noFill/>
          <a:ln/>
        </p:spPr>
        <p:txBody>
          <a:bodyPr wrap="square" rtlCol="0" anchor="ctr"/>
          <a:lstStyle/>
          <a:p>
            <a:pPr marL="0" indent="0" algn="ctr">
              <a:buNone/>
            </a:pPr>
            <a:r>
              <a:rPr lang="en-US" sz="900" dirty="0">
                <a:solidFill>
                  <a:srgbClr val="0080C6"/>
                </a:solidFill>
                <a:latin typeface="Calibri" pitchFamily="34" charset="0"/>
                <a:ea typeface="Calibri" pitchFamily="34" charset="-122"/>
                <a:cs typeface="Calibri" pitchFamily="34" charset="-120"/>
              </a:rPr>
              <a:t>Run</a:t>
            </a:r>
            <a:endParaRPr lang="en-US" sz="900" dirty="0"/>
          </a:p>
        </p:txBody>
      </p:sp>
      <p:sp>
        <p:nvSpPr>
          <p:cNvPr id="55" name="Shape 53"/>
          <p:cNvSpPr/>
          <p:nvPr/>
        </p:nvSpPr>
        <p:spPr>
          <a:xfrm>
            <a:off x="3700630" y="2119794"/>
            <a:ext cx="804672" cy="402336"/>
          </a:xfrm>
          <a:prstGeom prst="rect">
            <a:avLst/>
          </a:prstGeom>
          <a:solidFill>
            <a:srgbClr val="F4F8FB"/>
          </a:solidFill>
          <a:ln w="19050">
            <a:solidFill>
              <a:srgbClr val="FFFFFF"/>
            </a:solidFill>
            <a:prstDash val="solid"/>
          </a:ln>
        </p:spPr>
        <p:txBody>
          <a:bodyPr/>
          <a:lstStyle/>
          <a:p>
            <a:endParaRPr lang="en-US"/>
          </a:p>
        </p:txBody>
      </p:sp>
      <p:sp>
        <p:nvSpPr>
          <p:cNvPr id="56" name="Text 54"/>
          <p:cNvSpPr/>
          <p:nvPr/>
        </p:nvSpPr>
        <p:spPr>
          <a:xfrm>
            <a:off x="3737206" y="2119794"/>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+0.156</a:t>
            </a:r>
            <a:endParaRPr lang="en-US" sz="900" dirty="0"/>
          </a:p>
        </p:txBody>
      </p:sp>
      <p:sp>
        <p:nvSpPr>
          <p:cNvPr id="57" name="Shape 55"/>
          <p:cNvSpPr/>
          <p:nvPr/>
        </p:nvSpPr>
        <p:spPr>
          <a:xfrm>
            <a:off x="4505302" y="2119794"/>
            <a:ext cx="822960" cy="402336"/>
          </a:xfrm>
          <a:prstGeom prst="rect">
            <a:avLst/>
          </a:prstGeom>
          <a:solidFill>
            <a:srgbClr val="F4F8FB"/>
          </a:solidFill>
          <a:ln w="19050">
            <a:solidFill>
              <a:srgbClr val="FFFFFF"/>
            </a:solidFill>
            <a:prstDash val="solid"/>
          </a:ln>
        </p:spPr>
        <p:txBody>
          <a:bodyPr/>
          <a:lstStyle/>
          <a:p>
            <a:endParaRPr lang="en-US"/>
          </a:p>
        </p:txBody>
      </p:sp>
      <p:sp>
        <p:nvSpPr>
          <p:cNvPr id="58" name="Text 56"/>
          <p:cNvSpPr/>
          <p:nvPr/>
        </p:nvSpPr>
        <p:spPr>
          <a:xfrm>
            <a:off x="4541878" y="2119794"/>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79.2%</a:t>
            </a:r>
            <a:endParaRPr lang="en-US" sz="900" dirty="0"/>
          </a:p>
        </p:txBody>
      </p:sp>
      <p:sp>
        <p:nvSpPr>
          <p:cNvPr id="59" name="Shape 57"/>
          <p:cNvSpPr/>
          <p:nvPr/>
        </p:nvSpPr>
        <p:spPr>
          <a:xfrm>
            <a:off x="5328262" y="2119794"/>
            <a:ext cx="804672" cy="402336"/>
          </a:xfrm>
          <a:prstGeom prst="rect">
            <a:avLst/>
          </a:prstGeom>
          <a:solidFill>
            <a:srgbClr val="F4F8FB"/>
          </a:solidFill>
          <a:ln w="19050">
            <a:solidFill>
              <a:srgbClr val="FFFFFF"/>
            </a:solidFill>
            <a:prstDash val="solid"/>
          </a:ln>
        </p:spPr>
        <p:txBody>
          <a:bodyPr/>
          <a:lstStyle/>
          <a:p>
            <a:endParaRPr lang="en-US"/>
          </a:p>
        </p:txBody>
      </p:sp>
      <p:sp>
        <p:nvSpPr>
          <p:cNvPr id="60" name="Text 58"/>
          <p:cNvSpPr/>
          <p:nvPr/>
        </p:nvSpPr>
        <p:spPr>
          <a:xfrm>
            <a:off x="5364838" y="2119794"/>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10.4%</a:t>
            </a:r>
            <a:endParaRPr lang="en-US" sz="900" dirty="0"/>
          </a:p>
        </p:txBody>
      </p:sp>
      <p:sp>
        <p:nvSpPr>
          <p:cNvPr id="61" name="Shape 59"/>
          <p:cNvSpPr/>
          <p:nvPr/>
        </p:nvSpPr>
        <p:spPr>
          <a:xfrm>
            <a:off x="6132934" y="2119794"/>
            <a:ext cx="2276856" cy="402336"/>
          </a:xfrm>
          <a:prstGeom prst="rect">
            <a:avLst/>
          </a:prstGeom>
          <a:solidFill>
            <a:srgbClr val="F4F8FB"/>
          </a:solidFill>
          <a:ln w="19050">
            <a:solidFill>
              <a:srgbClr val="FFFFFF"/>
            </a:solidFill>
            <a:prstDash val="solid"/>
          </a:ln>
        </p:spPr>
        <p:txBody>
          <a:bodyPr/>
          <a:lstStyle/>
          <a:p>
            <a:endParaRPr lang="en-US"/>
          </a:p>
        </p:txBody>
      </p:sp>
      <p:sp>
        <p:nvSpPr>
          <p:cNvPr id="62" name="Text 60"/>
          <p:cNvSpPr/>
          <p:nvPr/>
        </p:nvSpPr>
        <p:spPr>
          <a:xfrm>
            <a:off x="6242662" y="2119794"/>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Run works here — but defense must respect the pass to keep it that way.</a:t>
            </a:r>
            <a:endParaRPr lang="en-US" sz="850" dirty="0"/>
          </a:p>
        </p:txBody>
      </p:sp>
      <p:sp>
        <p:nvSpPr>
          <p:cNvPr id="63" name="Shape 61"/>
          <p:cNvSpPr/>
          <p:nvPr/>
        </p:nvSpPr>
        <p:spPr>
          <a:xfrm>
            <a:off x="637390" y="2540418"/>
            <a:ext cx="1554480" cy="402336"/>
          </a:xfrm>
          <a:prstGeom prst="rect">
            <a:avLst/>
          </a:prstGeom>
          <a:solidFill>
            <a:srgbClr val="FFFBEB"/>
          </a:solidFill>
          <a:ln w="19050">
            <a:solidFill>
              <a:srgbClr val="FFFFFF"/>
            </a:solidFill>
            <a:prstDash val="solid"/>
          </a:ln>
        </p:spPr>
        <p:txBody>
          <a:bodyPr/>
          <a:lstStyle/>
          <a:p>
            <a:endParaRPr lang="en-US"/>
          </a:p>
        </p:txBody>
      </p:sp>
      <p:sp>
        <p:nvSpPr>
          <p:cNvPr id="64" name="Text 62"/>
          <p:cNvSpPr/>
          <p:nvPr/>
        </p:nvSpPr>
        <p:spPr>
          <a:xfrm>
            <a:off x="747118" y="2540418"/>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Midfield</a:t>
            </a:r>
            <a:endParaRPr lang="en-US" sz="900" dirty="0"/>
          </a:p>
        </p:txBody>
      </p:sp>
      <p:sp>
        <p:nvSpPr>
          <p:cNvPr id="65" name="Shape 63"/>
          <p:cNvSpPr/>
          <p:nvPr/>
        </p:nvSpPr>
        <p:spPr>
          <a:xfrm>
            <a:off x="2191870" y="2540418"/>
            <a:ext cx="548640" cy="402336"/>
          </a:xfrm>
          <a:prstGeom prst="rect">
            <a:avLst/>
          </a:prstGeom>
          <a:solidFill>
            <a:srgbClr val="FFFBEB"/>
          </a:solidFill>
          <a:ln w="19050">
            <a:solidFill>
              <a:srgbClr val="FFFFFF"/>
            </a:solidFill>
            <a:prstDash val="solid"/>
          </a:ln>
        </p:spPr>
        <p:txBody>
          <a:bodyPr/>
          <a:lstStyle/>
          <a:p>
            <a:endParaRPr lang="en-US"/>
          </a:p>
        </p:txBody>
      </p:sp>
      <p:sp>
        <p:nvSpPr>
          <p:cNvPr id="66" name="Text 64"/>
          <p:cNvSpPr/>
          <p:nvPr/>
        </p:nvSpPr>
        <p:spPr>
          <a:xfrm>
            <a:off x="2228446" y="2540418"/>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&amp;2</a:t>
            </a:r>
            <a:endParaRPr lang="en-US" sz="900" dirty="0"/>
          </a:p>
        </p:txBody>
      </p:sp>
      <p:sp>
        <p:nvSpPr>
          <p:cNvPr id="67" name="Shape 65"/>
          <p:cNvSpPr/>
          <p:nvPr/>
        </p:nvSpPr>
        <p:spPr>
          <a:xfrm>
            <a:off x="2740510" y="2540418"/>
            <a:ext cx="960120" cy="402336"/>
          </a:xfrm>
          <a:prstGeom prst="rect">
            <a:avLst/>
          </a:prstGeom>
          <a:solidFill>
            <a:srgbClr val="FFFBEB"/>
          </a:solidFill>
          <a:ln w="19050">
            <a:solidFill>
              <a:srgbClr val="FFFFFF"/>
            </a:solidFill>
            <a:prstDash val="solid"/>
          </a:ln>
        </p:spPr>
        <p:txBody>
          <a:bodyPr/>
          <a:lstStyle/>
          <a:p>
            <a:endParaRPr lang="en-US"/>
          </a:p>
        </p:txBody>
      </p:sp>
      <p:sp>
        <p:nvSpPr>
          <p:cNvPr id="68" name="Text 66"/>
          <p:cNvSpPr/>
          <p:nvPr/>
        </p:nvSpPr>
        <p:spPr>
          <a:xfrm>
            <a:off x="2777086" y="2540418"/>
            <a:ext cx="886968" cy="402336"/>
          </a:xfrm>
          <a:prstGeom prst="rect">
            <a:avLst/>
          </a:prstGeom>
          <a:noFill/>
          <a:ln/>
        </p:spPr>
        <p:txBody>
          <a:bodyPr wrap="square" rtlCol="0" anchor="ctr"/>
          <a:lstStyle/>
          <a:p>
            <a:pPr marL="0" indent="0" algn="ctr">
              <a:buNone/>
            </a:pPr>
            <a:r>
              <a:rPr lang="en-US" sz="900" dirty="0">
                <a:solidFill>
                  <a:srgbClr val="002A5E"/>
                </a:solidFill>
                <a:latin typeface="Calibri" pitchFamily="34" charset="0"/>
                <a:ea typeface="Calibri" pitchFamily="34" charset="-122"/>
                <a:cs typeface="Calibri" pitchFamily="34" charset="-120"/>
              </a:rPr>
              <a:t>Deep Shot</a:t>
            </a:r>
            <a:endParaRPr lang="en-US" sz="900" dirty="0"/>
          </a:p>
        </p:txBody>
      </p:sp>
      <p:sp>
        <p:nvSpPr>
          <p:cNvPr id="69" name="Shape 67"/>
          <p:cNvSpPr/>
          <p:nvPr/>
        </p:nvSpPr>
        <p:spPr>
          <a:xfrm>
            <a:off x="3700630" y="2540418"/>
            <a:ext cx="804672" cy="402336"/>
          </a:xfrm>
          <a:prstGeom prst="rect">
            <a:avLst/>
          </a:prstGeom>
          <a:solidFill>
            <a:srgbClr val="FFFBEB"/>
          </a:solidFill>
          <a:ln w="19050">
            <a:solidFill>
              <a:srgbClr val="FFFFFF"/>
            </a:solidFill>
            <a:prstDash val="solid"/>
          </a:ln>
        </p:spPr>
        <p:txBody>
          <a:bodyPr/>
          <a:lstStyle/>
          <a:p>
            <a:endParaRPr lang="en-US"/>
          </a:p>
        </p:txBody>
      </p:sp>
      <p:sp>
        <p:nvSpPr>
          <p:cNvPr id="70" name="Text 68"/>
          <p:cNvSpPr/>
          <p:nvPr/>
        </p:nvSpPr>
        <p:spPr>
          <a:xfrm>
            <a:off x="3737206" y="2540418"/>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+0.524</a:t>
            </a:r>
            <a:endParaRPr lang="en-US" sz="900" dirty="0"/>
          </a:p>
        </p:txBody>
      </p:sp>
      <p:sp>
        <p:nvSpPr>
          <p:cNvPr id="71" name="Shape 69"/>
          <p:cNvSpPr/>
          <p:nvPr/>
        </p:nvSpPr>
        <p:spPr>
          <a:xfrm>
            <a:off x="4505302" y="2540418"/>
            <a:ext cx="822960" cy="402336"/>
          </a:xfrm>
          <a:prstGeom prst="rect">
            <a:avLst/>
          </a:prstGeom>
          <a:solidFill>
            <a:srgbClr val="FFFBEB"/>
          </a:solidFill>
          <a:ln w="19050">
            <a:solidFill>
              <a:srgbClr val="FFFFFF"/>
            </a:solidFill>
            <a:prstDash val="solid"/>
          </a:ln>
        </p:spPr>
        <p:txBody>
          <a:bodyPr/>
          <a:lstStyle/>
          <a:p>
            <a:endParaRPr lang="en-US"/>
          </a:p>
        </p:txBody>
      </p:sp>
      <p:sp>
        <p:nvSpPr>
          <p:cNvPr id="72" name="Text 70"/>
          <p:cNvSpPr/>
          <p:nvPr/>
        </p:nvSpPr>
        <p:spPr>
          <a:xfrm>
            <a:off x="4541878" y="2540418"/>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50.0%</a:t>
            </a:r>
            <a:endParaRPr lang="en-US" sz="900" dirty="0"/>
          </a:p>
        </p:txBody>
      </p:sp>
      <p:sp>
        <p:nvSpPr>
          <p:cNvPr id="73" name="Shape 71"/>
          <p:cNvSpPr/>
          <p:nvPr/>
        </p:nvSpPr>
        <p:spPr>
          <a:xfrm>
            <a:off x="5328262" y="2540418"/>
            <a:ext cx="804672" cy="402336"/>
          </a:xfrm>
          <a:prstGeom prst="rect">
            <a:avLst/>
          </a:prstGeom>
          <a:solidFill>
            <a:srgbClr val="FFFBEB"/>
          </a:solidFill>
          <a:ln w="19050">
            <a:solidFill>
              <a:srgbClr val="FFFFFF"/>
            </a:solidFill>
            <a:prstDash val="solid"/>
          </a:ln>
        </p:spPr>
        <p:txBody>
          <a:bodyPr/>
          <a:lstStyle/>
          <a:p>
            <a:endParaRPr lang="en-US"/>
          </a:p>
        </p:txBody>
      </p:sp>
      <p:sp>
        <p:nvSpPr>
          <p:cNvPr id="74" name="Text 72"/>
          <p:cNvSpPr/>
          <p:nvPr/>
        </p:nvSpPr>
        <p:spPr>
          <a:xfrm>
            <a:off x="5364838" y="2540418"/>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50.0%</a:t>
            </a:r>
            <a:endParaRPr lang="en-US" sz="900" dirty="0"/>
          </a:p>
        </p:txBody>
      </p:sp>
      <p:sp>
        <p:nvSpPr>
          <p:cNvPr id="75" name="Shape 73"/>
          <p:cNvSpPr/>
          <p:nvPr/>
        </p:nvSpPr>
        <p:spPr>
          <a:xfrm>
            <a:off x="6132934" y="2540418"/>
            <a:ext cx="2276856" cy="402336"/>
          </a:xfrm>
          <a:prstGeom prst="rect">
            <a:avLst/>
          </a:prstGeom>
          <a:solidFill>
            <a:srgbClr val="FFFBEB"/>
          </a:solidFill>
          <a:ln w="19050">
            <a:solidFill>
              <a:srgbClr val="FFFFFF"/>
            </a:solidFill>
            <a:prstDash val="solid"/>
          </a:ln>
        </p:spPr>
        <p:txBody>
          <a:bodyPr/>
          <a:lstStyle/>
          <a:p>
            <a:endParaRPr lang="en-US"/>
          </a:p>
        </p:txBody>
      </p:sp>
      <p:sp>
        <p:nvSpPr>
          <p:cNvPr id="76" name="Text 74"/>
          <p:cNvSpPr/>
          <p:nvPr/>
        </p:nvSpPr>
        <p:spPr>
          <a:xfrm>
            <a:off x="6242662" y="2540418"/>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Defense in run mode. Shot play catches them off guard.</a:t>
            </a:r>
            <a:endParaRPr lang="en-US" sz="850" dirty="0"/>
          </a:p>
        </p:txBody>
      </p:sp>
      <p:sp>
        <p:nvSpPr>
          <p:cNvPr id="77" name="Shape 75"/>
          <p:cNvSpPr/>
          <p:nvPr/>
        </p:nvSpPr>
        <p:spPr>
          <a:xfrm>
            <a:off x="637390" y="2961042"/>
            <a:ext cx="1554480" cy="402336"/>
          </a:xfrm>
          <a:prstGeom prst="rect">
            <a:avLst/>
          </a:prstGeom>
          <a:solidFill>
            <a:srgbClr val="F4F8FB"/>
          </a:solidFill>
          <a:ln w="19050">
            <a:solidFill>
              <a:srgbClr val="FFFFFF"/>
            </a:solidFill>
            <a:prstDash val="solid"/>
          </a:ln>
        </p:spPr>
        <p:txBody>
          <a:bodyPr/>
          <a:lstStyle/>
          <a:p>
            <a:endParaRPr lang="en-US"/>
          </a:p>
        </p:txBody>
      </p:sp>
      <p:sp>
        <p:nvSpPr>
          <p:cNvPr id="78" name="Text 76"/>
          <p:cNvSpPr/>
          <p:nvPr/>
        </p:nvSpPr>
        <p:spPr>
          <a:xfrm>
            <a:off x="747118" y="2961042"/>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Scoring Pos.</a:t>
            </a:r>
            <a:endParaRPr lang="en-US" sz="900" dirty="0"/>
          </a:p>
        </p:txBody>
      </p:sp>
      <p:sp>
        <p:nvSpPr>
          <p:cNvPr id="79" name="Shape 77"/>
          <p:cNvSpPr/>
          <p:nvPr/>
        </p:nvSpPr>
        <p:spPr>
          <a:xfrm>
            <a:off x="2191870" y="2961042"/>
            <a:ext cx="548640" cy="402336"/>
          </a:xfrm>
          <a:prstGeom prst="rect">
            <a:avLst/>
          </a:prstGeom>
          <a:solidFill>
            <a:srgbClr val="F4F8FB"/>
          </a:solidFill>
          <a:ln w="19050">
            <a:solidFill>
              <a:srgbClr val="FFFFFF"/>
            </a:solidFill>
            <a:prstDash val="solid"/>
          </a:ln>
        </p:spPr>
        <p:txBody>
          <a:bodyPr/>
          <a:lstStyle/>
          <a:p>
            <a:endParaRPr lang="en-US"/>
          </a:p>
        </p:txBody>
      </p:sp>
      <p:sp>
        <p:nvSpPr>
          <p:cNvPr id="80" name="Text 78"/>
          <p:cNvSpPr/>
          <p:nvPr/>
        </p:nvSpPr>
        <p:spPr>
          <a:xfrm>
            <a:off x="2228446" y="2961042"/>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&amp;1</a:t>
            </a:r>
            <a:endParaRPr lang="en-US" sz="900" dirty="0"/>
          </a:p>
        </p:txBody>
      </p:sp>
      <p:sp>
        <p:nvSpPr>
          <p:cNvPr id="81" name="Shape 79"/>
          <p:cNvSpPr/>
          <p:nvPr/>
        </p:nvSpPr>
        <p:spPr>
          <a:xfrm>
            <a:off x="2740510" y="2961042"/>
            <a:ext cx="960120" cy="402336"/>
          </a:xfrm>
          <a:prstGeom prst="rect">
            <a:avLst/>
          </a:prstGeom>
          <a:solidFill>
            <a:srgbClr val="F4F8FB"/>
          </a:solidFill>
          <a:ln w="19050">
            <a:solidFill>
              <a:srgbClr val="FFFFFF"/>
            </a:solidFill>
            <a:prstDash val="solid"/>
          </a:ln>
        </p:spPr>
        <p:txBody>
          <a:bodyPr/>
          <a:lstStyle/>
          <a:p>
            <a:endParaRPr lang="en-US"/>
          </a:p>
        </p:txBody>
      </p:sp>
      <p:sp>
        <p:nvSpPr>
          <p:cNvPr id="82" name="Text 80"/>
          <p:cNvSpPr/>
          <p:nvPr/>
        </p:nvSpPr>
        <p:spPr>
          <a:xfrm>
            <a:off x="2777086" y="2961042"/>
            <a:ext cx="88696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Short Pass</a:t>
            </a:r>
            <a:endParaRPr lang="en-US" sz="900" dirty="0"/>
          </a:p>
        </p:txBody>
      </p:sp>
      <p:sp>
        <p:nvSpPr>
          <p:cNvPr id="83" name="Shape 81"/>
          <p:cNvSpPr/>
          <p:nvPr/>
        </p:nvSpPr>
        <p:spPr>
          <a:xfrm>
            <a:off x="3700630" y="2961042"/>
            <a:ext cx="804672" cy="402336"/>
          </a:xfrm>
          <a:prstGeom prst="rect">
            <a:avLst/>
          </a:prstGeom>
          <a:solidFill>
            <a:srgbClr val="F4F8FB"/>
          </a:solidFill>
          <a:ln w="19050">
            <a:solidFill>
              <a:srgbClr val="FFFFFF"/>
            </a:solidFill>
            <a:prstDash val="solid"/>
          </a:ln>
        </p:spPr>
        <p:txBody>
          <a:bodyPr/>
          <a:lstStyle/>
          <a:p>
            <a:endParaRPr lang="en-US"/>
          </a:p>
        </p:txBody>
      </p:sp>
      <p:sp>
        <p:nvSpPr>
          <p:cNvPr id="84" name="Text 82"/>
          <p:cNvSpPr/>
          <p:nvPr/>
        </p:nvSpPr>
        <p:spPr>
          <a:xfrm>
            <a:off x="3737206" y="2961042"/>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+0.445</a:t>
            </a:r>
            <a:endParaRPr lang="en-US" sz="900" dirty="0"/>
          </a:p>
        </p:txBody>
      </p:sp>
      <p:sp>
        <p:nvSpPr>
          <p:cNvPr id="85" name="Shape 83"/>
          <p:cNvSpPr/>
          <p:nvPr/>
        </p:nvSpPr>
        <p:spPr>
          <a:xfrm>
            <a:off x="4505302" y="2961042"/>
            <a:ext cx="822960" cy="402336"/>
          </a:xfrm>
          <a:prstGeom prst="rect">
            <a:avLst/>
          </a:prstGeom>
          <a:solidFill>
            <a:srgbClr val="F4F8FB"/>
          </a:solidFill>
          <a:ln w="19050">
            <a:solidFill>
              <a:srgbClr val="FFFFFF"/>
            </a:solidFill>
            <a:prstDash val="solid"/>
          </a:ln>
        </p:spPr>
        <p:txBody>
          <a:bodyPr/>
          <a:lstStyle/>
          <a:p>
            <a:endParaRPr lang="en-US"/>
          </a:p>
        </p:txBody>
      </p:sp>
      <p:sp>
        <p:nvSpPr>
          <p:cNvPr id="86" name="Text 84"/>
          <p:cNvSpPr/>
          <p:nvPr/>
        </p:nvSpPr>
        <p:spPr>
          <a:xfrm>
            <a:off x="4541878" y="2961042"/>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92.3%</a:t>
            </a:r>
            <a:endParaRPr lang="en-US" sz="900" dirty="0"/>
          </a:p>
        </p:txBody>
      </p:sp>
      <p:sp>
        <p:nvSpPr>
          <p:cNvPr id="87" name="Shape 85"/>
          <p:cNvSpPr/>
          <p:nvPr/>
        </p:nvSpPr>
        <p:spPr>
          <a:xfrm>
            <a:off x="5328262" y="2961042"/>
            <a:ext cx="804672" cy="402336"/>
          </a:xfrm>
          <a:prstGeom prst="rect">
            <a:avLst/>
          </a:prstGeom>
          <a:solidFill>
            <a:srgbClr val="F4F8FB"/>
          </a:solidFill>
          <a:ln w="19050">
            <a:solidFill>
              <a:srgbClr val="FFFFFF"/>
            </a:solidFill>
            <a:prstDash val="solid"/>
          </a:ln>
        </p:spPr>
        <p:txBody>
          <a:bodyPr/>
          <a:lstStyle/>
          <a:p>
            <a:endParaRPr lang="en-US"/>
          </a:p>
        </p:txBody>
      </p:sp>
      <p:sp>
        <p:nvSpPr>
          <p:cNvPr id="88" name="Text 86"/>
          <p:cNvSpPr/>
          <p:nvPr/>
        </p:nvSpPr>
        <p:spPr>
          <a:xfrm>
            <a:off x="5364838" y="2961042"/>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15.4%</a:t>
            </a:r>
            <a:endParaRPr lang="en-US" sz="900" dirty="0"/>
          </a:p>
        </p:txBody>
      </p:sp>
      <p:sp>
        <p:nvSpPr>
          <p:cNvPr id="89" name="Shape 87"/>
          <p:cNvSpPr/>
          <p:nvPr/>
        </p:nvSpPr>
        <p:spPr>
          <a:xfrm>
            <a:off x="6132934" y="2961042"/>
            <a:ext cx="2276856" cy="402336"/>
          </a:xfrm>
          <a:prstGeom prst="rect">
            <a:avLst/>
          </a:prstGeom>
          <a:solidFill>
            <a:srgbClr val="F4F8FB"/>
          </a:solidFill>
          <a:ln w="19050">
            <a:solidFill>
              <a:srgbClr val="FFFFFF"/>
            </a:solidFill>
            <a:prstDash val="solid"/>
          </a:ln>
        </p:spPr>
        <p:txBody>
          <a:bodyPr/>
          <a:lstStyle/>
          <a:p>
            <a:endParaRPr lang="en-US"/>
          </a:p>
        </p:txBody>
      </p:sp>
      <p:sp>
        <p:nvSpPr>
          <p:cNvPr id="90" name="Text 88"/>
          <p:cNvSpPr/>
          <p:nvPr/>
        </p:nvSpPr>
        <p:spPr>
          <a:xfrm>
            <a:off x="6242662" y="2961042"/>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Quick pass in tight quarters — 92% first down rate, almost no risk.</a:t>
            </a:r>
            <a:endParaRPr lang="en-US" sz="850" dirty="0"/>
          </a:p>
        </p:txBody>
      </p:sp>
      <p:sp>
        <p:nvSpPr>
          <p:cNvPr id="91" name="Shape 89"/>
          <p:cNvSpPr/>
          <p:nvPr/>
        </p:nvSpPr>
        <p:spPr>
          <a:xfrm>
            <a:off x="637390" y="3381666"/>
            <a:ext cx="1554480" cy="402336"/>
          </a:xfrm>
          <a:prstGeom prst="rect">
            <a:avLst/>
          </a:prstGeom>
          <a:solidFill>
            <a:srgbClr val="FFC20E"/>
          </a:solidFill>
          <a:ln w="19050">
            <a:solidFill>
              <a:srgbClr val="FFFFFF"/>
            </a:solidFill>
            <a:prstDash val="solid"/>
          </a:ln>
        </p:spPr>
        <p:txBody>
          <a:bodyPr/>
          <a:lstStyle/>
          <a:p>
            <a:endParaRPr lang="en-US"/>
          </a:p>
        </p:txBody>
      </p:sp>
      <p:sp>
        <p:nvSpPr>
          <p:cNvPr id="92" name="Text 90"/>
          <p:cNvSpPr/>
          <p:nvPr/>
        </p:nvSpPr>
        <p:spPr>
          <a:xfrm>
            <a:off x="747118" y="3381666"/>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Scoring Pos.</a:t>
            </a:r>
            <a:endParaRPr lang="en-US" sz="900" dirty="0"/>
          </a:p>
        </p:txBody>
      </p:sp>
      <p:sp>
        <p:nvSpPr>
          <p:cNvPr id="93" name="Shape 91"/>
          <p:cNvSpPr/>
          <p:nvPr/>
        </p:nvSpPr>
        <p:spPr>
          <a:xfrm>
            <a:off x="2191870" y="3381666"/>
            <a:ext cx="548640" cy="402336"/>
          </a:xfrm>
          <a:prstGeom prst="rect">
            <a:avLst/>
          </a:prstGeom>
          <a:solidFill>
            <a:srgbClr val="FFC20E"/>
          </a:solidFill>
          <a:ln w="19050">
            <a:solidFill>
              <a:srgbClr val="FFFFFF"/>
            </a:solidFill>
            <a:prstDash val="solid"/>
          </a:ln>
        </p:spPr>
        <p:txBody>
          <a:bodyPr/>
          <a:lstStyle/>
          <a:p>
            <a:endParaRPr lang="en-US"/>
          </a:p>
        </p:txBody>
      </p:sp>
      <p:sp>
        <p:nvSpPr>
          <p:cNvPr id="94" name="Text 92"/>
          <p:cNvSpPr/>
          <p:nvPr/>
        </p:nvSpPr>
        <p:spPr>
          <a:xfrm>
            <a:off x="2228446" y="3381666"/>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&amp;2</a:t>
            </a:r>
            <a:endParaRPr lang="en-US" sz="900" dirty="0"/>
          </a:p>
        </p:txBody>
      </p:sp>
      <p:sp>
        <p:nvSpPr>
          <p:cNvPr id="95" name="Shape 93"/>
          <p:cNvSpPr/>
          <p:nvPr/>
        </p:nvSpPr>
        <p:spPr>
          <a:xfrm>
            <a:off x="2740510" y="3381666"/>
            <a:ext cx="960120" cy="402336"/>
          </a:xfrm>
          <a:prstGeom prst="rect">
            <a:avLst/>
          </a:prstGeom>
          <a:solidFill>
            <a:srgbClr val="FFC20E"/>
          </a:solidFill>
          <a:ln w="19050">
            <a:solidFill>
              <a:srgbClr val="FFFFFF"/>
            </a:solidFill>
            <a:prstDash val="solid"/>
          </a:ln>
        </p:spPr>
        <p:txBody>
          <a:bodyPr/>
          <a:lstStyle/>
          <a:p>
            <a:endParaRPr lang="en-US"/>
          </a:p>
        </p:txBody>
      </p:sp>
      <p:sp>
        <p:nvSpPr>
          <p:cNvPr id="96" name="Text 94"/>
          <p:cNvSpPr/>
          <p:nvPr/>
        </p:nvSpPr>
        <p:spPr>
          <a:xfrm>
            <a:off x="2777086" y="3381666"/>
            <a:ext cx="886968" cy="402336"/>
          </a:xfrm>
          <a:prstGeom prst="rect">
            <a:avLst/>
          </a:prstGeom>
          <a:noFill/>
          <a:ln/>
        </p:spPr>
        <p:txBody>
          <a:bodyPr wrap="square" rtlCol="0" anchor="ctr"/>
          <a:lstStyle/>
          <a:p>
            <a:pPr marL="0" indent="0" algn="ctr">
              <a:buNone/>
            </a:pPr>
            <a:r>
              <a:rPr lang="en-US" sz="900" b="1" dirty="0">
                <a:solidFill>
                  <a:srgbClr val="002A5E"/>
                </a:solidFill>
                <a:latin typeface="Calibri" pitchFamily="34" charset="0"/>
                <a:ea typeface="Calibri" pitchFamily="34" charset="-122"/>
                <a:cs typeface="Calibri" pitchFamily="34" charset="-120"/>
              </a:rPr>
              <a:t>Deep Shot</a:t>
            </a:r>
            <a:endParaRPr lang="en-US" sz="900" dirty="0"/>
          </a:p>
        </p:txBody>
      </p:sp>
      <p:sp>
        <p:nvSpPr>
          <p:cNvPr id="97" name="Shape 95"/>
          <p:cNvSpPr/>
          <p:nvPr/>
        </p:nvSpPr>
        <p:spPr>
          <a:xfrm>
            <a:off x="3700630" y="3381666"/>
            <a:ext cx="804672" cy="402336"/>
          </a:xfrm>
          <a:prstGeom prst="rect">
            <a:avLst/>
          </a:prstGeom>
          <a:solidFill>
            <a:srgbClr val="FFC20E"/>
          </a:solidFill>
          <a:ln w="19050">
            <a:solidFill>
              <a:srgbClr val="FFFFFF"/>
            </a:solidFill>
            <a:prstDash val="solid"/>
          </a:ln>
        </p:spPr>
        <p:txBody>
          <a:bodyPr/>
          <a:lstStyle/>
          <a:p>
            <a:endParaRPr lang="en-US"/>
          </a:p>
        </p:txBody>
      </p:sp>
      <p:sp>
        <p:nvSpPr>
          <p:cNvPr id="98" name="Text 96"/>
          <p:cNvSpPr/>
          <p:nvPr/>
        </p:nvSpPr>
        <p:spPr>
          <a:xfrm>
            <a:off x="3737206" y="3381666"/>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+1.210</a:t>
            </a:r>
            <a:endParaRPr lang="en-US" sz="900" dirty="0"/>
          </a:p>
        </p:txBody>
      </p:sp>
      <p:sp>
        <p:nvSpPr>
          <p:cNvPr id="99" name="Shape 97"/>
          <p:cNvSpPr/>
          <p:nvPr/>
        </p:nvSpPr>
        <p:spPr>
          <a:xfrm>
            <a:off x="4505302" y="3381666"/>
            <a:ext cx="822960" cy="402336"/>
          </a:xfrm>
          <a:prstGeom prst="rect">
            <a:avLst/>
          </a:prstGeom>
          <a:solidFill>
            <a:srgbClr val="FFC20E"/>
          </a:solidFill>
          <a:ln w="19050">
            <a:solidFill>
              <a:srgbClr val="FFFFFF"/>
            </a:solidFill>
            <a:prstDash val="solid"/>
          </a:ln>
        </p:spPr>
        <p:txBody>
          <a:bodyPr/>
          <a:lstStyle/>
          <a:p>
            <a:endParaRPr lang="en-US"/>
          </a:p>
        </p:txBody>
      </p:sp>
      <p:sp>
        <p:nvSpPr>
          <p:cNvPr id="100" name="Text 98"/>
          <p:cNvSpPr/>
          <p:nvPr/>
        </p:nvSpPr>
        <p:spPr>
          <a:xfrm>
            <a:off x="4541878" y="3381666"/>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80.0%</a:t>
            </a:r>
            <a:endParaRPr lang="en-US" sz="900" dirty="0"/>
          </a:p>
        </p:txBody>
      </p:sp>
      <p:sp>
        <p:nvSpPr>
          <p:cNvPr id="101" name="Shape 99"/>
          <p:cNvSpPr/>
          <p:nvPr/>
        </p:nvSpPr>
        <p:spPr>
          <a:xfrm>
            <a:off x="5328262" y="3381666"/>
            <a:ext cx="804672" cy="402336"/>
          </a:xfrm>
          <a:prstGeom prst="rect">
            <a:avLst/>
          </a:prstGeom>
          <a:solidFill>
            <a:srgbClr val="FFC20E"/>
          </a:solidFill>
          <a:ln w="19050">
            <a:solidFill>
              <a:srgbClr val="FFFFFF"/>
            </a:solidFill>
            <a:prstDash val="solid"/>
          </a:ln>
        </p:spPr>
        <p:txBody>
          <a:bodyPr/>
          <a:lstStyle/>
          <a:p>
            <a:endParaRPr lang="en-US"/>
          </a:p>
        </p:txBody>
      </p:sp>
      <p:sp>
        <p:nvSpPr>
          <p:cNvPr id="102" name="Text 100"/>
          <p:cNvSpPr/>
          <p:nvPr/>
        </p:nvSpPr>
        <p:spPr>
          <a:xfrm>
            <a:off x="5364838" y="3381666"/>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80.0%</a:t>
            </a:r>
            <a:endParaRPr lang="en-US" sz="900" dirty="0"/>
          </a:p>
        </p:txBody>
      </p:sp>
      <p:sp>
        <p:nvSpPr>
          <p:cNvPr id="103" name="Shape 101"/>
          <p:cNvSpPr/>
          <p:nvPr/>
        </p:nvSpPr>
        <p:spPr>
          <a:xfrm>
            <a:off x="6132934" y="3381666"/>
            <a:ext cx="2276856" cy="402336"/>
          </a:xfrm>
          <a:prstGeom prst="rect">
            <a:avLst/>
          </a:prstGeom>
          <a:solidFill>
            <a:srgbClr val="FFC20E"/>
          </a:solidFill>
          <a:ln w="19050">
            <a:solidFill>
              <a:srgbClr val="FFFFFF"/>
            </a:solidFill>
            <a:prstDash val="solid"/>
          </a:ln>
        </p:spPr>
        <p:txBody>
          <a:bodyPr/>
          <a:lstStyle/>
          <a:p>
            <a:endParaRPr lang="en-US"/>
          </a:p>
        </p:txBody>
      </p:sp>
      <p:sp>
        <p:nvSpPr>
          <p:cNvPr id="104" name="Text 102"/>
          <p:cNvSpPr/>
          <p:nvPr/>
        </p:nvSpPr>
        <p:spPr>
          <a:xfrm>
            <a:off x="6242662" y="3381666"/>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Highest value play in any 2nd &amp; short situation. Take the shot.</a:t>
            </a:r>
            <a:endParaRPr lang="en-US" sz="850" dirty="0"/>
          </a:p>
        </p:txBody>
      </p:sp>
      <p:sp>
        <p:nvSpPr>
          <p:cNvPr id="105" name="Shape 103"/>
          <p:cNvSpPr/>
          <p:nvPr/>
        </p:nvSpPr>
        <p:spPr>
          <a:xfrm>
            <a:off x="637390" y="3802290"/>
            <a:ext cx="1554480" cy="402336"/>
          </a:xfrm>
          <a:prstGeom prst="rect">
            <a:avLst/>
          </a:prstGeom>
          <a:solidFill>
            <a:srgbClr val="FFFFFF"/>
          </a:solidFill>
          <a:ln w="19050">
            <a:solidFill>
              <a:srgbClr val="FFFFFF"/>
            </a:solidFill>
            <a:prstDash val="solid"/>
          </a:ln>
        </p:spPr>
        <p:txBody>
          <a:bodyPr/>
          <a:lstStyle/>
          <a:p>
            <a:endParaRPr lang="en-US"/>
          </a:p>
        </p:txBody>
      </p:sp>
      <p:sp>
        <p:nvSpPr>
          <p:cNvPr id="106" name="Text 104"/>
          <p:cNvSpPr/>
          <p:nvPr/>
        </p:nvSpPr>
        <p:spPr>
          <a:xfrm>
            <a:off x="747118" y="3802290"/>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Red Zone</a:t>
            </a:r>
            <a:endParaRPr lang="en-US" sz="900" dirty="0"/>
          </a:p>
        </p:txBody>
      </p:sp>
      <p:sp>
        <p:nvSpPr>
          <p:cNvPr id="107" name="Shape 105"/>
          <p:cNvSpPr/>
          <p:nvPr/>
        </p:nvSpPr>
        <p:spPr>
          <a:xfrm>
            <a:off x="2191870" y="3802290"/>
            <a:ext cx="548640" cy="402336"/>
          </a:xfrm>
          <a:prstGeom prst="rect">
            <a:avLst/>
          </a:prstGeom>
          <a:solidFill>
            <a:srgbClr val="FFFFFF"/>
          </a:solidFill>
          <a:ln w="19050">
            <a:solidFill>
              <a:srgbClr val="FFFFFF"/>
            </a:solidFill>
            <a:prstDash val="solid"/>
          </a:ln>
        </p:spPr>
        <p:txBody>
          <a:bodyPr/>
          <a:lstStyle/>
          <a:p>
            <a:endParaRPr lang="en-US"/>
          </a:p>
        </p:txBody>
      </p:sp>
      <p:sp>
        <p:nvSpPr>
          <p:cNvPr id="108" name="Text 106"/>
          <p:cNvSpPr/>
          <p:nvPr/>
        </p:nvSpPr>
        <p:spPr>
          <a:xfrm>
            <a:off x="2228446" y="3802290"/>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&amp;1</a:t>
            </a:r>
            <a:endParaRPr lang="en-US" sz="900" dirty="0"/>
          </a:p>
        </p:txBody>
      </p:sp>
      <p:sp>
        <p:nvSpPr>
          <p:cNvPr id="109" name="Shape 107"/>
          <p:cNvSpPr/>
          <p:nvPr/>
        </p:nvSpPr>
        <p:spPr>
          <a:xfrm>
            <a:off x="2740510" y="3802290"/>
            <a:ext cx="960120" cy="402336"/>
          </a:xfrm>
          <a:prstGeom prst="rect">
            <a:avLst/>
          </a:prstGeom>
          <a:solidFill>
            <a:srgbClr val="FFFFFF"/>
          </a:solidFill>
          <a:ln w="19050">
            <a:solidFill>
              <a:srgbClr val="FFFFFF"/>
            </a:solidFill>
            <a:prstDash val="solid"/>
          </a:ln>
        </p:spPr>
        <p:txBody>
          <a:bodyPr/>
          <a:lstStyle/>
          <a:p>
            <a:endParaRPr lang="en-US"/>
          </a:p>
        </p:txBody>
      </p:sp>
      <p:sp>
        <p:nvSpPr>
          <p:cNvPr id="110" name="Text 108"/>
          <p:cNvSpPr/>
          <p:nvPr/>
        </p:nvSpPr>
        <p:spPr>
          <a:xfrm>
            <a:off x="2777086" y="3802290"/>
            <a:ext cx="88696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Short Pass</a:t>
            </a:r>
            <a:endParaRPr lang="en-US" sz="900" dirty="0"/>
          </a:p>
        </p:txBody>
      </p:sp>
      <p:sp>
        <p:nvSpPr>
          <p:cNvPr id="111" name="Shape 109"/>
          <p:cNvSpPr/>
          <p:nvPr/>
        </p:nvSpPr>
        <p:spPr>
          <a:xfrm>
            <a:off x="3700630" y="3802290"/>
            <a:ext cx="804672" cy="402336"/>
          </a:xfrm>
          <a:prstGeom prst="rect">
            <a:avLst/>
          </a:prstGeom>
          <a:solidFill>
            <a:srgbClr val="FFFFFF"/>
          </a:solidFill>
          <a:ln w="19050">
            <a:solidFill>
              <a:srgbClr val="FFFFFF"/>
            </a:solidFill>
            <a:prstDash val="solid"/>
          </a:ln>
        </p:spPr>
        <p:txBody>
          <a:bodyPr/>
          <a:lstStyle/>
          <a:p>
            <a:endParaRPr lang="en-US"/>
          </a:p>
        </p:txBody>
      </p:sp>
      <p:sp>
        <p:nvSpPr>
          <p:cNvPr id="112" name="Text 110"/>
          <p:cNvSpPr/>
          <p:nvPr/>
        </p:nvSpPr>
        <p:spPr>
          <a:xfrm>
            <a:off x="3737206" y="3802290"/>
            <a:ext cx="731520" cy="402336"/>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+0.217</a:t>
            </a:r>
            <a:endParaRPr lang="en-US" sz="900" dirty="0"/>
          </a:p>
        </p:txBody>
      </p:sp>
      <p:sp>
        <p:nvSpPr>
          <p:cNvPr id="113" name="Shape 111"/>
          <p:cNvSpPr/>
          <p:nvPr/>
        </p:nvSpPr>
        <p:spPr>
          <a:xfrm>
            <a:off x="4505302" y="3802290"/>
            <a:ext cx="822960" cy="402336"/>
          </a:xfrm>
          <a:prstGeom prst="rect">
            <a:avLst/>
          </a:prstGeom>
          <a:solidFill>
            <a:srgbClr val="FFFFFF"/>
          </a:solidFill>
          <a:ln w="19050">
            <a:solidFill>
              <a:srgbClr val="FFFFFF"/>
            </a:solidFill>
            <a:prstDash val="solid"/>
          </a:ln>
        </p:spPr>
        <p:txBody>
          <a:bodyPr/>
          <a:lstStyle/>
          <a:p>
            <a:endParaRPr lang="en-US"/>
          </a:p>
        </p:txBody>
      </p:sp>
      <p:sp>
        <p:nvSpPr>
          <p:cNvPr id="114" name="Text 112"/>
          <p:cNvSpPr/>
          <p:nvPr/>
        </p:nvSpPr>
        <p:spPr>
          <a:xfrm>
            <a:off x="4541878" y="3802290"/>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50.0%</a:t>
            </a:r>
            <a:endParaRPr lang="en-US" sz="900" dirty="0"/>
          </a:p>
        </p:txBody>
      </p:sp>
      <p:sp>
        <p:nvSpPr>
          <p:cNvPr id="115" name="Shape 113"/>
          <p:cNvSpPr/>
          <p:nvPr/>
        </p:nvSpPr>
        <p:spPr>
          <a:xfrm>
            <a:off x="5328262" y="3802290"/>
            <a:ext cx="804672" cy="402336"/>
          </a:xfrm>
          <a:prstGeom prst="rect">
            <a:avLst/>
          </a:prstGeom>
          <a:solidFill>
            <a:srgbClr val="FFFFFF"/>
          </a:solidFill>
          <a:ln w="19050">
            <a:solidFill>
              <a:srgbClr val="FFFFFF"/>
            </a:solidFill>
            <a:prstDash val="solid"/>
          </a:ln>
        </p:spPr>
        <p:txBody>
          <a:bodyPr/>
          <a:lstStyle/>
          <a:p>
            <a:endParaRPr lang="en-US"/>
          </a:p>
        </p:txBody>
      </p:sp>
      <p:sp>
        <p:nvSpPr>
          <p:cNvPr id="116" name="Text 114"/>
          <p:cNvSpPr/>
          <p:nvPr/>
        </p:nvSpPr>
        <p:spPr>
          <a:xfrm>
            <a:off x="5364838" y="3802290"/>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0%</a:t>
            </a:r>
            <a:endParaRPr lang="en-US" sz="900" dirty="0"/>
          </a:p>
        </p:txBody>
      </p:sp>
      <p:sp>
        <p:nvSpPr>
          <p:cNvPr id="117" name="Shape 115"/>
          <p:cNvSpPr/>
          <p:nvPr/>
        </p:nvSpPr>
        <p:spPr>
          <a:xfrm>
            <a:off x="6132934" y="3802290"/>
            <a:ext cx="2276856" cy="402336"/>
          </a:xfrm>
          <a:prstGeom prst="rect">
            <a:avLst/>
          </a:prstGeom>
          <a:solidFill>
            <a:srgbClr val="FFFFFF"/>
          </a:solidFill>
          <a:ln w="19050">
            <a:solidFill>
              <a:srgbClr val="FFFFFF"/>
            </a:solidFill>
            <a:prstDash val="solid"/>
          </a:ln>
        </p:spPr>
        <p:txBody>
          <a:bodyPr/>
          <a:lstStyle/>
          <a:p>
            <a:endParaRPr lang="en-US"/>
          </a:p>
        </p:txBody>
      </p:sp>
      <p:sp>
        <p:nvSpPr>
          <p:cNvPr id="118" name="Text 116"/>
          <p:cNvSpPr/>
          <p:nvPr/>
        </p:nvSpPr>
        <p:spPr>
          <a:xfrm>
            <a:off x="6242662" y="3802290"/>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Condensed space limits deep shot. Quick pass or run to the end zone.</a:t>
            </a:r>
            <a:endParaRPr lang="en-US" sz="850" dirty="0"/>
          </a:p>
        </p:txBody>
      </p:sp>
      <p:sp>
        <p:nvSpPr>
          <p:cNvPr id="119" name="Shape 117"/>
          <p:cNvSpPr/>
          <p:nvPr/>
        </p:nvSpPr>
        <p:spPr>
          <a:xfrm>
            <a:off x="637390" y="4222914"/>
            <a:ext cx="1554480" cy="402336"/>
          </a:xfrm>
          <a:prstGeom prst="rect">
            <a:avLst/>
          </a:prstGeom>
          <a:solidFill>
            <a:srgbClr val="F4F8FB"/>
          </a:solidFill>
          <a:ln w="19050">
            <a:solidFill>
              <a:srgbClr val="FFFFFF"/>
            </a:solidFill>
            <a:prstDash val="solid"/>
          </a:ln>
        </p:spPr>
        <p:txBody>
          <a:bodyPr/>
          <a:lstStyle/>
          <a:p>
            <a:endParaRPr lang="en-US"/>
          </a:p>
        </p:txBody>
      </p:sp>
      <p:sp>
        <p:nvSpPr>
          <p:cNvPr id="120" name="Text 118"/>
          <p:cNvSpPr/>
          <p:nvPr/>
        </p:nvSpPr>
        <p:spPr>
          <a:xfrm>
            <a:off x="747118" y="4222914"/>
            <a:ext cx="1408176" cy="402336"/>
          </a:xfrm>
          <a:prstGeom prst="rect">
            <a:avLst/>
          </a:prstGeom>
          <a:noFill/>
          <a:ln/>
        </p:spPr>
        <p:txBody>
          <a:bodyPr wrap="square" rtlCol="0" anchor="ctr"/>
          <a:lstStyle/>
          <a:p>
            <a:pPr marL="0" indent="0" algn="l">
              <a:buNone/>
            </a:pPr>
            <a:r>
              <a:rPr lang="en-US" sz="900" dirty="0">
                <a:solidFill>
                  <a:srgbClr val="334155"/>
                </a:solidFill>
                <a:latin typeface="Calibri" pitchFamily="34" charset="0"/>
                <a:ea typeface="Calibri" pitchFamily="34" charset="-122"/>
                <a:cs typeface="Calibri" pitchFamily="34" charset="-120"/>
              </a:rPr>
              <a:t>Red Zone</a:t>
            </a:r>
            <a:endParaRPr lang="en-US" sz="900" dirty="0"/>
          </a:p>
        </p:txBody>
      </p:sp>
      <p:sp>
        <p:nvSpPr>
          <p:cNvPr id="121" name="Shape 119"/>
          <p:cNvSpPr/>
          <p:nvPr/>
        </p:nvSpPr>
        <p:spPr>
          <a:xfrm>
            <a:off x="2191870" y="4222914"/>
            <a:ext cx="548640" cy="402336"/>
          </a:xfrm>
          <a:prstGeom prst="rect">
            <a:avLst/>
          </a:prstGeom>
          <a:solidFill>
            <a:srgbClr val="F4F8FB"/>
          </a:solidFill>
          <a:ln w="19050">
            <a:solidFill>
              <a:srgbClr val="FFFFFF"/>
            </a:solidFill>
            <a:prstDash val="solid"/>
          </a:ln>
        </p:spPr>
        <p:txBody>
          <a:bodyPr/>
          <a:lstStyle/>
          <a:p>
            <a:endParaRPr lang="en-US"/>
          </a:p>
        </p:txBody>
      </p:sp>
      <p:sp>
        <p:nvSpPr>
          <p:cNvPr id="122" name="Text 120"/>
          <p:cNvSpPr/>
          <p:nvPr/>
        </p:nvSpPr>
        <p:spPr>
          <a:xfrm>
            <a:off x="2228446" y="4222914"/>
            <a:ext cx="47548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&amp;2</a:t>
            </a:r>
            <a:endParaRPr lang="en-US" sz="900" dirty="0"/>
          </a:p>
        </p:txBody>
      </p:sp>
      <p:sp>
        <p:nvSpPr>
          <p:cNvPr id="123" name="Shape 121"/>
          <p:cNvSpPr/>
          <p:nvPr/>
        </p:nvSpPr>
        <p:spPr>
          <a:xfrm>
            <a:off x="2740510" y="4222914"/>
            <a:ext cx="960120" cy="402336"/>
          </a:xfrm>
          <a:prstGeom prst="rect">
            <a:avLst/>
          </a:prstGeom>
          <a:solidFill>
            <a:srgbClr val="F4F8FB"/>
          </a:solidFill>
          <a:ln w="19050">
            <a:solidFill>
              <a:srgbClr val="FFFFFF"/>
            </a:solidFill>
            <a:prstDash val="solid"/>
          </a:ln>
        </p:spPr>
        <p:txBody>
          <a:bodyPr/>
          <a:lstStyle/>
          <a:p>
            <a:endParaRPr lang="en-US"/>
          </a:p>
        </p:txBody>
      </p:sp>
      <p:sp>
        <p:nvSpPr>
          <p:cNvPr id="124" name="Text 122"/>
          <p:cNvSpPr/>
          <p:nvPr/>
        </p:nvSpPr>
        <p:spPr>
          <a:xfrm>
            <a:off x="2777086" y="4222914"/>
            <a:ext cx="886968" cy="402336"/>
          </a:xfrm>
          <a:prstGeom prst="rect">
            <a:avLst/>
          </a:prstGeom>
          <a:noFill/>
          <a:ln/>
        </p:spPr>
        <p:txBody>
          <a:bodyPr wrap="square" rtlCol="0" anchor="ctr"/>
          <a:lstStyle/>
          <a:p>
            <a:pPr marL="0" indent="0" algn="ctr">
              <a:buNone/>
            </a:pPr>
            <a:r>
              <a:rPr lang="en-US" sz="900" dirty="0">
                <a:solidFill>
                  <a:srgbClr val="0080C6"/>
                </a:solidFill>
                <a:latin typeface="Calibri" pitchFamily="34" charset="0"/>
                <a:ea typeface="Calibri" pitchFamily="34" charset="-122"/>
                <a:cs typeface="Calibri" pitchFamily="34" charset="-120"/>
              </a:rPr>
              <a:t>Run</a:t>
            </a:r>
            <a:endParaRPr lang="en-US" sz="900" dirty="0"/>
          </a:p>
        </p:txBody>
      </p:sp>
      <p:sp>
        <p:nvSpPr>
          <p:cNvPr id="125" name="Shape 123"/>
          <p:cNvSpPr/>
          <p:nvPr/>
        </p:nvSpPr>
        <p:spPr>
          <a:xfrm>
            <a:off x="3700630" y="4222914"/>
            <a:ext cx="804672" cy="402336"/>
          </a:xfrm>
          <a:prstGeom prst="rect">
            <a:avLst/>
          </a:prstGeom>
          <a:solidFill>
            <a:srgbClr val="F4F8FB"/>
          </a:solidFill>
          <a:ln w="19050">
            <a:solidFill>
              <a:srgbClr val="FFFFFF"/>
            </a:solidFill>
            <a:prstDash val="solid"/>
          </a:ln>
        </p:spPr>
        <p:txBody>
          <a:bodyPr/>
          <a:lstStyle/>
          <a:p>
            <a:endParaRPr lang="en-US"/>
          </a:p>
        </p:txBody>
      </p:sp>
      <p:sp>
        <p:nvSpPr>
          <p:cNvPr id="126" name="Text 124"/>
          <p:cNvSpPr/>
          <p:nvPr/>
        </p:nvSpPr>
        <p:spPr>
          <a:xfrm>
            <a:off x="3737206" y="4222914"/>
            <a:ext cx="731520" cy="402336"/>
          </a:xfrm>
          <a:prstGeom prst="rect">
            <a:avLst/>
          </a:prstGeom>
          <a:noFill/>
          <a:ln/>
        </p:spPr>
        <p:txBody>
          <a:bodyPr wrap="square" rtlCol="0" anchor="ctr"/>
          <a:lstStyle/>
          <a:p>
            <a:pPr marL="0" indent="0" algn="ctr">
              <a:buNone/>
            </a:pPr>
            <a:r>
              <a:rPr lang="en-US" sz="900" b="1" dirty="0">
                <a:solidFill>
                  <a:srgbClr val="DC2626"/>
                </a:solidFill>
                <a:latin typeface="Calibri" pitchFamily="34" charset="0"/>
                <a:ea typeface="Calibri" pitchFamily="34" charset="-122"/>
                <a:cs typeface="Calibri" pitchFamily="34" charset="-120"/>
              </a:rPr>
              <a:t>−0.022</a:t>
            </a:r>
            <a:endParaRPr lang="en-US" sz="900" dirty="0"/>
          </a:p>
        </p:txBody>
      </p:sp>
      <p:sp>
        <p:nvSpPr>
          <p:cNvPr id="127" name="Shape 125"/>
          <p:cNvSpPr/>
          <p:nvPr/>
        </p:nvSpPr>
        <p:spPr>
          <a:xfrm>
            <a:off x="4505302" y="4222914"/>
            <a:ext cx="822960" cy="402336"/>
          </a:xfrm>
          <a:prstGeom prst="rect">
            <a:avLst/>
          </a:prstGeom>
          <a:solidFill>
            <a:srgbClr val="F4F8FB"/>
          </a:solidFill>
          <a:ln w="19050">
            <a:solidFill>
              <a:srgbClr val="FFFFFF"/>
            </a:solidFill>
            <a:prstDash val="solid"/>
          </a:ln>
        </p:spPr>
        <p:txBody>
          <a:bodyPr/>
          <a:lstStyle/>
          <a:p>
            <a:endParaRPr lang="en-US"/>
          </a:p>
        </p:txBody>
      </p:sp>
      <p:sp>
        <p:nvSpPr>
          <p:cNvPr id="128" name="Text 126"/>
          <p:cNvSpPr/>
          <p:nvPr/>
        </p:nvSpPr>
        <p:spPr>
          <a:xfrm>
            <a:off x="4541878" y="4222914"/>
            <a:ext cx="749808"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50.9%</a:t>
            </a:r>
            <a:endParaRPr lang="en-US" sz="900" dirty="0"/>
          </a:p>
        </p:txBody>
      </p:sp>
      <p:sp>
        <p:nvSpPr>
          <p:cNvPr id="129" name="Shape 127"/>
          <p:cNvSpPr/>
          <p:nvPr/>
        </p:nvSpPr>
        <p:spPr>
          <a:xfrm>
            <a:off x="5328262" y="4222914"/>
            <a:ext cx="804672" cy="402336"/>
          </a:xfrm>
          <a:prstGeom prst="rect">
            <a:avLst/>
          </a:prstGeom>
          <a:solidFill>
            <a:srgbClr val="F4F8FB"/>
          </a:solidFill>
          <a:ln w="19050">
            <a:solidFill>
              <a:srgbClr val="FFFFFF"/>
            </a:solidFill>
            <a:prstDash val="solid"/>
          </a:ln>
        </p:spPr>
        <p:txBody>
          <a:bodyPr/>
          <a:lstStyle/>
          <a:p>
            <a:endParaRPr lang="en-US"/>
          </a:p>
        </p:txBody>
      </p:sp>
      <p:sp>
        <p:nvSpPr>
          <p:cNvPr id="130" name="Text 128"/>
          <p:cNvSpPr/>
          <p:nvPr/>
        </p:nvSpPr>
        <p:spPr>
          <a:xfrm>
            <a:off x="5364838" y="4222914"/>
            <a:ext cx="731520" cy="402336"/>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0%</a:t>
            </a:r>
            <a:endParaRPr lang="en-US" sz="900" dirty="0"/>
          </a:p>
        </p:txBody>
      </p:sp>
      <p:sp>
        <p:nvSpPr>
          <p:cNvPr id="131" name="Shape 129"/>
          <p:cNvSpPr/>
          <p:nvPr/>
        </p:nvSpPr>
        <p:spPr>
          <a:xfrm>
            <a:off x="6132934" y="4222914"/>
            <a:ext cx="2276856" cy="402336"/>
          </a:xfrm>
          <a:prstGeom prst="rect">
            <a:avLst/>
          </a:prstGeom>
          <a:solidFill>
            <a:srgbClr val="F4F8FB"/>
          </a:solidFill>
          <a:ln w="19050">
            <a:solidFill>
              <a:srgbClr val="FFFFFF"/>
            </a:solidFill>
            <a:prstDash val="solid"/>
          </a:ln>
        </p:spPr>
        <p:txBody>
          <a:bodyPr/>
          <a:lstStyle/>
          <a:p>
            <a:endParaRPr lang="en-US"/>
          </a:p>
        </p:txBody>
      </p:sp>
      <p:sp>
        <p:nvSpPr>
          <p:cNvPr id="132" name="Text 130"/>
          <p:cNvSpPr/>
          <p:nvPr/>
        </p:nvSpPr>
        <p:spPr>
          <a:xfrm>
            <a:off x="6242662" y="4222914"/>
            <a:ext cx="2130552" cy="402336"/>
          </a:xfrm>
          <a:prstGeom prst="rect">
            <a:avLst/>
          </a:prstGeom>
          <a:noFill/>
          <a:ln/>
        </p:spPr>
        <p:txBody>
          <a:bodyPr wrap="square" rtlCol="0" anchor="ctr"/>
          <a:lstStyle/>
          <a:p>
            <a:pPr marL="0" indent="0" algn="l">
              <a:buNone/>
            </a:pPr>
            <a:r>
              <a:rPr lang="en-US" sz="850" dirty="0">
                <a:solidFill>
                  <a:srgbClr val="64748B"/>
                </a:solidFill>
                <a:latin typeface="Calibri" pitchFamily="34" charset="0"/>
                <a:ea typeface="Calibri" pitchFamily="34" charset="-122"/>
                <a:cs typeface="Calibri" pitchFamily="34" charset="-120"/>
              </a:rPr>
              <a:t>Tight space. All options are difficult here.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80C6"/>
          </a:solidFill>
          <a:ln w="12700">
            <a:solidFill>
              <a:srgbClr val="0080C6"/>
            </a:solidFill>
            <a:prstDash val="solid"/>
          </a:ln>
        </p:spPr>
        <p:txBody>
          <a:bodyPr/>
          <a:lstStyle/>
          <a:p>
            <a:endParaRPr lang="en-US"/>
          </a:p>
        </p:txBody>
      </p:sp>
      <p:sp>
        <p:nvSpPr>
          <p:cNvPr id="3" name="Shape 1"/>
          <p:cNvSpPr/>
          <p:nvPr/>
        </p:nvSpPr>
        <p:spPr>
          <a:xfrm>
            <a:off x="0" y="54864"/>
            <a:ext cx="54864" cy="822960"/>
          </a:xfrm>
          <a:prstGeom prst="rect">
            <a:avLst/>
          </a:prstGeom>
          <a:solidFill>
            <a:srgbClr val="FFC20E"/>
          </a:solidFill>
          <a:ln w="12700">
            <a:solidFill>
              <a:srgbClr val="FFC20E"/>
            </a:solidFill>
            <a:prstDash val="solid"/>
          </a:ln>
        </p:spPr>
        <p:txBody>
          <a:bodyPr/>
          <a:lstStyle/>
          <a:p>
            <a:endParaRPr lang="en-US"/>
          </a:p>
        </p:txBody>
      </p:sp>
      <p:sp>
        <p:nvSpPr>
          <p:cNvPr id="4" name="Text 2"/>
          <p:cNvSpPr/>
          <p:nvPr/>
        </p:nvSpPr>
        <p:spPr>
          <a:xfrm>
            <a:off x="201168" y="91440"/>
            <a:ext cx="8686800" cy="438912"/>
          </a:xfrm>
          <a:prstGeom prst="rect">
            <a:avLst/>
          </a:prstGeom>
          <a:noFill/>
          <a:ln/>
        </p:spPr>
        <p:txBody>
          <a:bodyPr wrap="square" rtlCol="0" anchor="ctr"/>
          <a:lstStyle/>
          <a:p>
            <a:pPr marL="0" indent="0">
              <a:buNone/>
            </a:pPr>
            <a:r>
              <a:rPr lang="en-US" sz="2200" b="1" dirty="0">
                <a:solidFill>
                  <a:srgbClr val="0080C6"/>
                </a:solidFill>
                <a:latin typeface="Calibri" pitchFamily="34" charset="0"/>
                <a:ea typeface="Calibri" pitchFamily="34" charset="-122"/>
                <a:cs typeface="Calibri" pitchFamily="34" charset="-120"/>
              </a:rPr>
              <a:t>Reframing the Risk on 2nd &amp; Short</a:t>
            </a:r>
            <a:endParaRPr lang="en-US" sz="2200" dirty="0"/>
          </a:p>
        </p:txBody>
      </p:sp>
      <p:sp>
        <p:nvSpPr>
          <p:cNvPr id="5" name="Text 3"/>
          <p:cNvSpPr/>
          <p:nvPr/>
        </p:nvSpPr>
        <p:spPr>
          <a:xfrm>
            <a:off x="201168" y="512064"/>
            <a:ext cx="8686800" cy="182880"/>
          </a:xfrm>
          <a:prstGeom prst="rect">
            <a:avLst/>
          </a:prstGeom>
          <a:noFill/>
          <a:ln/>
        </p:spPr>
        <p:txBody>
          <a:bodyPr wrap="square" rtlCol="0" anchor="ctr"/>
          <a:lstStyle/>
          <a:p>
            <a:pPr marL="0" indent="0">
              <a:buNone/>
            </a:pPr>
            <a:r>
              <a:rPr lang="en-US" sz="900" b="1" i="1" dirty="0">
                <a:solidFill>
                  <a:srgbClr val="64748B"/>
                </a:solidFill>
                <a:latin typeface="Calibri" pitchFamily="34" charset="0"/>
                <a:ea typeface="Calibri" pitchFamily="34" charset="-122"/>
                <a:cs typeface="Calibri" pitchFamily="34" charset="-120"/>
              </a:rPr>
              <a:t>Explosive plays win games. 2nd &amp; short is where you create them.</a:t>
            </a:r>
            <a:endParaRPr lang="en-US" sz="900" b="1" dirty="0"/>
          </a:p>
        </p:txBody>
      </p:sp>
      <p:sp>
        <p:nvSpPr>
          <p:cNvPr id="7" name="Text 5"/>
          <p:cNvSpPr/>
          <p:nvPr/>
        </p:nvSpPr>
        <p:spPr>
          <a:xfrm>
            <a:off x="54864" y="1030240"/>
            <a:ext cx="4114800" cy="256032"/>
          </a:xfrm>
          <a:prstGeom prst="rect">
            <a:avLst/>
          </a:prstGeom>
          <a:noFill/>
          <a:ln/>
        </p:spPr>
        <p:txBody>
          <a:bodyPr wrap="square" rtlCol="0" anchor="ctr"/>
          <a:lstStyle/>
          <a:p>
            <a:pPr marL="0" indent="0">
              <a:buNone/>
            </a:pPr>
            <a:r>
              <a:rPr lang="en-US" sz="1200" b="1" dirty="0">
                <a:solidFill>
                  <a:srgbClr val="0080C6"/>
                </a:solidFill>
                <a:latin typeface="Calibri" pitchFamily="34" charset="0"/>
                <a:ea typeface="Calibri" pitchFamily="34" charset="-122"/>
                <a:cs typeface="Calibri" pitchFamily="34" charset="-120"/>
              </a:rPr>
              <a:t>"What if the Shot Doesn't Work?"</a:t>
            </a:r>
            <a:endParaRPr lang="en-US" sz="1200" dirty="0"/>
          </a:p>
        </p:txBody>
      </p:sp>
      <p:sp>
        <p:nvSpPr>
          <p:cNvPr id="8" name="Text 6"/>
          <p:cNvSpPr/>
          <p:nvPr/>
        </p:nvSpPr>
        <p:spPr>
          <a:xfrm>
            <a:off x="118872" y="1245072"/>
            <a:ext cx="4114800" cy="1828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3rd &amp; short conversion rates (2025 NFL Season)</a:t>
            </a:r>
            <a:endParaRPr lang="en-US" sz="850" dirty="0"/>
          </a:p>
        </p:txBody>
      </p:sp>
      <p:sp>
        <p:nvSpPr>
          <p:cNvPr id="9" name="Shape 7"/>
          <p:cNvSpPr/>
          <p:nvPr/>
        </p:nvSpPr>
        <p:spPr>
          <a:xfrm>
            <a:off x="201168" y="1469100"/>
            <a:ext cx="960120" cy="292608"/>
          </a:xfrm>
          <a:prstGeom prst="rect">
            <a:avLst/>
          </a:prstGeom>
          <a:solidFill>
            <a:srgbClr val="0080C6"/>
          </a:solidFill>
          <a:ln w="19050">
            <a:solidFill>
              <a:srgbClr val="FFFFFF"/>
            </a:solidFill>
            <a:prstDash val="solid"/>
          </a:ln>
        </p:spPr>
        <p:txBody>
          <a:bodyPr/>
          <a:lstStyle/>
          <a:p>
            <a:endParaRPr lang="en-US"/>
          </a:p>
        </p:txBody>
      </p:sp>
      <p:sp>
        <p:nvSpPr>
          <p:cNvPr id="10" name="Text 8"/>
          <p:cNvSpPr/>
          <p:nvPr/>
        </p:nvSpPr>
        <p:spPr>
          <a:xfrm>
            <a:off x="237744" y="1469100"/>
            <a:ext cx="886968"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Situation</a:t>
            </a:r>
            <a:endParaRPr lang="en-US" sz="900" dirty="0"/>
          </a:p>
        </p:txBody>
      </p:sp>
      <p:sp>
        <p:nvSpPr>
          <p:cNvPr id="11" name="Shape 9"/>
          <p:cNvSpPr/>
          <p:nvPr/>
        </p:nvSpPr>
        <p:spPr>
          <a:xfrm>
            <a:off x="1161288" y="1469100"/>
            <a:ext cx="658368" cy="292608"/>
          </a:xfrm>
          <a:prstGeom prst="rect">
            <a:avLst/>
          </a:prstGeom>
          <a:solidFill>
            <a:srgbClr val="0080C6"/>
          </a:solidFill>
          <a:ln w="19050">
            <a:solidFill>
              <a:srgbClr val="FFFFFF"/>
            </a:solidFill>
            <a:prstDash val="solid"/>
          </a:ln>
        </p:spPr>
        <p:txBody>
          <a:bodyPr/>
          <a:lstStyle/>
          <a:p>
            <a:endParaRPr lang="en-US"/>
          </a:p>
        </p:txBody>
      </p:sp>
      <p:sp>
        <p:nvSpPr>
          <p:cNvPr id="12" name="Text 10"/>
          <p:cNvSpPr/>
          <p:nvPr/>
        </p:nvSpPr>
        <p:spPr>
          <a:xfrm>
            <a:off x="1197864" y="1469100"/>
            <a:ext cx="585216"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a:t>
            </a:r>
            <a:endParaRPr lang="en-US" sz="900" dirty="0"/>
          </a:p>
        </p:txBody>
      </p:sp>
      <p:sp>
        <p:nvSpPr>
          <p:cNvPr id="13" name="Shape 11"/>
          <p:cNvSpPr/>
          <p:nvPr/>
        </p:nvSpPr>
        <p:spPr>
          <a:xfrm>
            <a:off x="1819656" y="1469100"/>
            <a:ext cx="804672" cy="292608"/>
          </a:xfrm>
          <a:prstGeom prst="rect">
            <a:avLst/>
          </a:prstGeom>
          <a:solidFill>
            <a:srgbClr val="0080C6"/>
          </a:solidFill>
          <a:ln w="19050">
            <a:solidFill>
              <a:srgbClr val="FFFFFF"/>
            </a:solidFill>
            <a:prstDash val="solid"/>
          </a:ln>
        </p:spPr>
        <p:txBody>
          <a:bodyPr/>
          <a:lstStyle/>
          <a:p>
            <a:endParaRPr lang="en-US"/>
          </a:p>
        </p:txBody>
      </p:sp>
      <p:sp>
        <p:nvSpPr>
          <p:cNvPr id="14" name="Text 12"/>
          <p:cNvSpPr/>
          <p:nvPr/>
        </p:nvSpPr>
        <p:spPr>
          <a:xfrm>
            <a:off x="1856232" y="1469100"/>
            <a:ext cx="73152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League Rate</a:t>
            </a:r>
            <a:endParaRPr lang="en-US" sz="900" dirty="0"/>
          </a:p>
        </p:txBody>
      </p:sp>
      <p:sp>
        <p:nvSpPr>
          <p:cNvPr id="15" name="Shape 13"/>
          <p:cNvSpPr/>
          <p:nvPr/>
        </p:nvSpPr>
        <p:spPr>
          <a:xfrm>
            <a:off x="2624328" y="1469100"/>
            <a:ext cx="804672" cy="292608"/>
          </a:xfrm>
          <a:prstGeom prst="rect">
            <a:avLst/>
          </a:prstGeom>
          <a:solidFill>
            <a:srgbClr val="0080C6"/>
          </a:solidFill>
          <a:ln w="19050">
            <a:solidFill>
              <a:srgbClr val="FFFFFF"/>
            </a:solidFill>
            <a:prstDash val="solid"/>
          </a:ln>
        </p:spPr>
        <p:txBody>
          <a:bodyPr/>
          <a:lstStyle/>
          <a:p>
            <a:endParaRPr lang="en-US"/>
          </a:p>
        </p:txBody>
      </p:sp>
      <p:sp>
        <p:nvSpPr>
          <p:cNvPr id="16" name="Text 14"/>
          <p:cNvSpPr/>
          <p:nvPr/>
        </p:nvSpPr>
        <p:spPr>
          <a:xfrm>
            <a:off x="2660904" y="1469100"/>
            <a:ext cx="73152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LAC Rate</a:t>
            </a:r>
            <a:endParaRPr lang="en-US" sz="900" dirty="0"/>
          </a:p>
        </p:txBody>
      </p:sp>
      <p:sp>
        <p:nvSpPr>
          <p:cNvPr id="17" name="Shape 15"/>
          <p:cNvSpPr/>
          <p:nvPr/>
        </p:nvSpPr>
        <p:spPr>
          <a:xfrm>
            <a:off x="3429000" y="1469100"/>
            <a:ext cx="804672" cy="292608"/>
          </a:xfrm>
          <a:prstGeom prst="rect">
            <a:avLst/>
          </a:prstGeom>
          <a:solidFill>
            <a:srgbClr val="0080C6"/>
          </a:solidFill>
          <a:ln w="19050">
            <a:solidFill>
              <a:srgbClr val="FFFFFF"/>
            </a:solidFill>
            <a:prstDash val="solid"/>
          </a:ln>
        </p:spPr>
        <p:txBody>
          <a:bodyPr/>
          <a:lstStyle/>
          <a:p>
            <a:endParaRPr lang="en-US"/>
          </a:p>
        </p:txBody>
      </p:sp>
      <p:sp>
        <p:nvSpPr>
          <p:cNvPr id="18" name="Text 16"/>
          <p:cNvSpPr/>
          <p:nvPr/>
        </p:nvSpPr>
        <p:spPr>
          <a:xfrm>
            <a:off x="3465576" y="1469100"/>
            <a:ext cx="731520" cy="29260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Verdict</a:t>
            </a:r>
            <a:endParaRPr lang="en-US" sz="900" dirty="0"/>
          </a:p>
        </p:txBody>
      </p:sp>
      <p:sp>
        <p:nvSpPr>
          <p:cNvPr id="19" name="Shape 17"/>
          <p:cNvSpPr/>
          <p:nvPr/>
        </p:nvSpPr>
        <p:spPr>
          <a:xfrm>
            <a:off x="201168" y="1761708"/>
            <a:ext cx="960120" cy="365760"/>
          </a:xfrm>
          <a:prstGeom prst="rect">
            <a:avLst/>
          </a:prstGeom>
          <a:solidFill>
            <a:srgbClr val="DCFCE7"/>
          </a:solidFill>
          <a:ln w="19050">
            <a:solidFill>
              <a:srgbClr val="FFFFFF"/>
            </a:solidFill>
            <a:prstDash val="solid"/>
          </a:ln>
        </p:spPr>
        <p:txBody>
          <a:bodyPr/>
          <a:lstStyle/>
          <a:p>
            <a:endParaRPr lang="en-US"/>
          </a:p>
        </p:txBody>
      </p:sp>
      <p:sp>
        <p:nvSpPr>
          <p:cNvPr id="20" name="Text 18"/>
          <p:cNvSpPr/>
          <p:nvPr/>
        </p:nvSpPr>
        <p:spPr>
          <a:xfrm>
            <a:off x="404622" y="1772022"/>
            <a:ext cx="813816" cy="365760"/>
          </a:xfrm>
          <a:prstGeom prst="rect">
            <a:avLst/>
          </a:prstGeom>
          <a:noFill/>
          <a:ln/>
        </p:spPr>
        <p:txBody>
          <a:bodyPr wrap="square" rtlCol="0" anchor="ctr"/>
          <a:lstStyle/>
          <a:p>
            <a:pPr marL="0" indent="0" algn="l">
              <a:buNone/>
            </a:pPr>
            <a:r>
              <a:rPr lang="en-US" sz="950" b="1" dirty="0">
                <a:solidFill>
                  <a:srgbClr val="334155"/>
                </a:solidFill>
                <a:latin typeface="Calibri" pitchFamily="34" charset="0"/>
                <a:ea typeface="Calibri" pitchFamily="34" charset="-122"/>
                <a:cs typeface="Calibri" pitchFamily="34" charset="-120"/>
              </a:rPr>
              <a:t>3rd &amp; 1</a:t>
            </a:r>
            <a:endParaRPr lang="en-US" sz="950" dirty="0"/>
          </a:p>
        </p:txBody>
      </p:sp>
      <p:sp>
        <p:nvSpPr>
          <p:cNvPr id="21" name="Shape 19"/>
          <p:cNvSpPr/>
          <p:nvPr/>
        </p:nvSpPr>
        <p:spPr>
          <a:xfrm>
            <a:off x="1161288" y="1761708"/>
            <a:ext cx="658368" cy="365760"/>
          </a:xfrm>
          <a:prstGeom prst="rect">
            <a:avLst/>
          </a:prstGeom>
          <a:solidFill>
            <a:srgbClr val="DCFCE7"/>
          </a:solidFill>
          <a:ln w="19050">
            <a:solidFill>
              <a:srgbClr val="FFFFFF"/>
            </a:solidFill>
            <a:prstDash val="solid"/>
          </a:ln>
        </p:spPr>
        <p:txBody>
          <a:bodyPr/>
          <a:lstStyle/>
          <a:p>
            <a:endParaRPr lang="en-US"/>
          </a:p>
        </p:txBody>
      </p:sp>
      <p:sp>
        <p:nvSpPr>
          <p:cNvPr id="22" name="Text 20"/>
          <p:cNvSpPr/>
          <p:nvPr/>
        </p:nvSpPr>
        <p:spPr>
          <a:xfrm>
            <a:off x="1197864" y="1761708"/>
            <a:ext cx="585216" cy="365760"/>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737</a:t>
            </a:r>
            <a:endParaRPr lang="en-US" sz="900" dirty="0"/>
          </a:p>
        </p:txBody>
      </p:sp>
      <p:sp>
        <p:nvSpPr>
          <p:cNvPr id="23" name="Shape 21"/>
          <p:cNvSpPr/>
          <p:nvPr/>
        </p:nvSpPr>
        <p:spPr>
          <a:xfrm>
            <a:off x="1819656" y="1761708"/>
            <a:ext cx="804672" cy="365760"/>
          </a:xfrm>
          <a:prstGeom prst="rect">
            <a:avLst/>
          </a:prstGeom>
          <a:solidFill>
            <a:srgbClr val="DCFCE7"/>
          </a:solidFill>
          <a:ln w="19050">
            <a:solidFill>
              <a:srgbClr val="FFFFFF"/>
            </a:solidFill>
            <a:prstDash val="solid"/>
          </a:ln>
        </p:spPr>
        <p:txBody>
          <a:bodyPr/>
          <a:lstStyle/>
          <a:p>
            <a:endParaRPr lang="en-US"/>
          </a:p>
        </p:txBody>
      </p:sp>
      <p:sp>
        <p:nvSpPr>
          <p:cNvPr id="24" name="Text 22"/>
          <p:cNvSpPr/>
          <p:nvPr/>
        </p:nvSpPr>
        <p:spPr>
          <a:xfrm>
            <a:off x="1856232" y="1761708"/>
            <a:ext cx="731520" cy="365760"/>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67.8%</a:t>
            </a:r>
            <a:endParaRPr lang="en-US" sz="900" dirty="0"/>
          </a:p>
        </p:txBody>
      </p:sp>
      <p:sp>
        <p:nvSpPr>
          <p:cNvPr id="25" name="Shape 23"/>
          <p:cNvSpPr/>
          <p:nvPr/>
        </p:nvSpPr>
        <p:spPr>
          <a:xfrm>
            <a:off x="2624328" y="1761708"/>
            <a:ext cx="804672" cy="365760"/>
          </a:xfrm>
          <a:prstGeom prst="rect">
            <a:avLst/>
          </a:prstGeom>
          <a:solidFill>
            <a:srgbClr val="DCFCE7"/>
          </a:solidFill>
          <a:ln w="19050">
            <a:solidFill>
              <a:srgbClr val="FFFFFF"/>
            </a:solidFill>
            <a:prstDash val="solid"/>
          </a:ln>
        </p:spPr>
        <p:txBody>
          <a:bodyPr/>
          <a:lstStyle/>
          <a:p>
            <a:endParaRPr lang="en-US"/>
          </a:p>
        </p:txBody>
      </p:sp>
      <p:sp>
        <p:nvSpPr>
          <p:cNvPr id="26" name="Text 24"/>
          <p:cNvSpPr/>
          <p:nvPr/>
        </p:nvSpPr>
        <p:spPr>
          <a:xfrm>
            <a:off x="2660904" y="1761708"/>
            <a:ext cx="731520" cy="365760"/>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77.8%</a:t>
            </a:r>
            <a:endParaRPr lang="en-US" sz="900" dirty="0"/>
          </a:p>
        </p:txBody>
      </p:sp>
      <p:sp>
        <p:nvSpPr>
          <p:cNvPr id="27" name="Shape 25"/>
          <p:cNvSpPr/>
          <p:nvPr/>
        </p:nvSpPr>
        <p:spPr>
          <a:xfrm>
            <a:off x="3429000" y="1761708"/>
            <a:ext cx="804672" cy="365760"/>
          </a:xfrm>
          <a:prstGeom prst="rect">
            <a:avLst/>
          </a:prstGeom>
          <a:solidFill>
            <a:srgbClr val="DCFCE7"/>
          </a:solidFill>
          <a:ln w="19050">
            <a:solidFill>
              <a:srgbClr val="FFFFFF"/>
            </a:solidFill>
            <a:prstDash val="solid"/>
          </a:ln>
        </p:spPr>
        <p:txBody>
          <a:bodyPr/>
          <a:lstStyle/>
          <a:p>
            <a:endParaRPr lang="en-US"/>
          </a:p>
        </p:txBody>
      </p:sp>
      <p:sp>
        <p:nvSpPr>
          <p:cNvPr id="28" name="Text 26"/>
          <p:cNvSpPr/>
          <p:nvPr/>
        </p:nvSpPr>
        <p:spPr>
          <a:xfrm>
            <a:off x="3387852" y="1757668"/>
            <a:ext cx="886968" cy="365760"/>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Manageable</a:t>
            </a:r>
            <a:endParaRPr lang="en-US" sz="900" dirty="0"/>
          </a:p>
        </p:txBody>
      </p:sp>
      <p:sp>
        <p:nvSpPr>
          <p:cNvPr id="29" name="Shape 27"/>
          <p:cNvSpPr/>
          <p:nvPr/>
        </p:nvSpPr>
        <p:spPr>
          <a:xfrm>
            <a:off x="201168" y="2145756"/>
            <a:ext cx="960120" cy="365760"/>
          </a:xfrm>
          <a:prstGeom prst="rect">
            <a:avLst/>
          </a:prstGeom>
          <a:solidFill>
            <a:srgbClr val="F4F8FB"/>
          </a:solidFill>
          <a:ln w="19050">
            <a:solidFill>
              <a:srgbClr val="FFFFFF"/>
            </a:solidFill>
            <a:prstDash val="solid"/>
          </a:ln>
        </p:spPr>
        <p:txBody>
          <a:bodyPr/>
          <a:lstStyle/>
          <a:p>
            <a:endParaRPr lang="en-US"/>
          </a:p>
        </p:txBody>
      </p:sp>
      <p:sp>
        <p:nvSpPr>
          <p:cNvPr id="30" name="Text 28"/>
          <p:cNvSpPr/>
          <p:nvPr/>
        </p:nvSpPr>
        <p:spPr>
          <a:xfrm>
            <a:off x="397445" y="2135442"/>
            <a:ext cx="813816" cy="365760"/>
          </a:xfrm>
          <a:prstGeom prst="rect">
            <a:avLst/>
          </a:prstGeom>
          <a:noFill/>
          <a:ln/>
        </p:spPr>
        <p:txBody>
          <a:bodyPr wrap="square" rtlCol="0" anchor="ctr"/>
          <a:lstStyle/>
          <a:p>
            <a:pPr marL="0" indent="0" algn="l">
              <a:buNone/>
            </a:pPr>
            <a:r>
              <a:rPr lang="en-US" sz="950" b="1" dirty="0">
                <a:solidFill>
                  <a:srgbClr val="334155"/>
                </a:solidFill>
                <a:latin typeface="Calibri" pitchFamily="34" charset="0"/>
                <a:ea typeface="Calibri" pitchFamily="34" charset="-122"/>
                <a:cs typeface="Calibri" pitchFamily="34" charset="-120"/>
              </a:rPr>
              <a:t>3rd &amp; 2</a:t>
            </a:r>
            <a:endParaRPr lang="en-US" sz="950" dirty="0"/>
          </a:p>
        </p:txBody>
      </p:sp>
      <p:sp>
        <p:nvSpPr>
          <p:cNvPr id="31" name="Shape 29"/>
          <p:cNvSpPr/>
          <p:nvPr/>
        </p:nvSpPr>
        <p:spPr>
          <a:xfrm>
            <a:off x="1161288" y="2145756"/>
            <a:ext cx="658368" cy="365760"/>
          </a:xfrm>
          <a:prstGeom prst="rect">
            <a:avLst/>
          </a:prstGeom>
          <a:solidFill>
            <a:srgbClr val="F4F8FB"/>
          </a:solidFill>
          <a:ln w="19050">
            <a:solidFill>
              <a:srgbClr val="FFFFFF"/>
            </a:solidFill>
            <a:prstDash val="solid"/>
          </a:ln>
        </p:spPr>
        <p:txBody>
          <a:bodyPr/>
          <a:lstStyle/>
          <a:p>
            <a:endParaRPr lang="en-US"/>
          </a:p>
        </p:txBody>
      </p:sp>
      <p:sp>
        <p:nvSpPr>
          <p:cNvPr id="32" name="Text 30"/>
          <p:cNvSpPr/>
          <p:nvPr/>
        </p:nvSpPr>
        <p:spPr>
          <a:xfrm>
            <a:off x="1197864" y="2145756"/>
            <a:ext cx="585216" cy="365760"/>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483</a:t>
            </a:r>
            <a:endParaRPr lang="en-US" sz="900" dirty="0"/>
          </a:p>
        </p:txBody>
      </p:sp>
      <p:sp>
        <p:nvSpPr>
          <p:cNvPr id="33" name="Shape 31"/>
          <p:cNvSpPr/>
          <p:nvPr/>
        </p:nvSpPr>
        <p:spPr>
          <a:xfrm>
            <a:off x="1819656" y="2145756"/>
            <a:ext cx="804672" cy="365760"/>
          </a:xfrm>
          <a:prstGeom prst="rect">
            <a:avLst/>
          </a:prstGeom>
          <a:solidFill>
            <a:srgbClr val="F4F8FB"/>
          </a:solidFill>
          <a:ln w="19050">
            <a:solidFill>
              <a:srgbClr val="FFFFFF"/>
            </a:solidFill>
            <a:prstDash val="solid"/>
          </a:ln>
        </p:spPr>
        <p:txBody>
          <a:bodyPr/>
          <a:lstStyle/>
          <a:p>
            <a:endParaRPr lang="en-US"/>
          </a:p>
        </p:txBody>
      </p:sp>
      <p:sp>
        <p:nvSpPr>
          <p:cNvPr id="34" name="Text 32"/>
          <p:cNvSpPr/>
          <p:nvPr/>
        </p:nvSpPr>
        <p:spPr>
          <a:xfrm>
            <a:off x="1856232" y="2145756"/>
            <a:ext cx="731520" cy="365760"/>
          </a:xfrm>
          <a:prstGeom prst="rect">
            <a:avLst/>
          </a:prstGeom>
          <a:noFill/>
          <a:ln/>
        </p:spPr>
        <p:txBody>
          <a:bodyPr wrap="square" rtlCol="0" anchor="ctr"/>
          <a:lstStyle/>
          <a:p>
            <a:pPr marL="0" indent="0" algn="ctr">
              <a:buNone/>
            </a:pPr>
            <a:r>
              <a:rPr lang="en-US" sz="900" dirty="0">
                <a:solidFill>
                  <a:srgbClr val="334155"/>
                </a:solidFill>
                <a:latin typeface="Calibri" pitchFamily="34" charset="0"/>
                <a:ea typeface="Calibri" pitchFamily="34" charset="-122"/>
                <a:cs typeface="Calibri" pitchFamily="34" charset="-120"/>
              </a:rPr>
              <a:t>59.0%</a:t>
            </a:r>
            <a:endParaRPr lang="en-US" sz="900" dirty="0"/>
          </a:p>
        </p:txBody>
      </p:sp>
      <p:sp>
        <p:nvSpPr>
          <p:cNvPr id="35" name="Shape 33"/>
          <p:cNvSpPr/>
          <p:nvPr/>
        </p:nvSpPr>
        <p:spPr>
          <a:xfrm>
            <a:off x="2624328" y="2145756"/>
            <a:ext cx="804672" cy="365760"/>
          </a:xfrm>
          <a:prstGeom prst="rect">
            <a:avLst/>
          </a:prstGeom>
          <a:solidFill>
            <a:srgbClr val="F4F8FB"/>
          </a:solidFill>
          <a:ln w="19050">
            <a:solidFill>
              <a:srgbClr val="FFFFFF"/>
            </a:solidFill>
            <a:prstDash val="solid"/>
          </a:ln>
        </p:spPr>
        <p:txBody>
          <a:bodyPr/>
          <a:lstStyle/>
          <a:p>
            <a:endParaRPr lang="en-US"/>
          </a:p>
        </p:txBody>
      </p:sp>
      <p:sp>
        <p:nvSpPr>
          <p:cNvPr id="36" name="Text 34"/>
          <p:cNvSpPr/>
          <p:nvPr/>
        </p:nvSpPr>
        <p:spPr>
          <a:xfrm>
            <a:off x="2660904" y="2145756"/>
            <a:ext cx="731520" cy="365760"/>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56.0%</a:t>
            </a:r>
            <a:endParaRPr lang="en-US" sz="900" dirty="0"/>
          </a:p>
        </p:txBody>
      </p:sp>
      <p:sp>
        <p:nvSpPr>
          <p:cNvPr id="37" name="Shape 35"/>
          <p:cNvSpPr/>
          <p:nvPr/>
        </p:nvSpPr>
        <p:spPr>
          <a:xfrm>
            <a:off x="3429000" y="2145756"/>
            <a:ext cx="804672" cy="365760"/>
          </a:xfrm>
          <a:prstGeom prst="rect">
            <a:avLst/>
          </a:prstGeom>
          <a:solidFill>
            <a:srgbClr val="F4F8FB"/>
          </a:solidFill>
          <a:ln w="19050">
            <a:solidFill>
              <a:srgbClr val="FFFFFF"/>
            </a:solidFill>
            <a:prstDash val="solid"/>
          </a:ln>
        </p:spPr>
        <p:txBody>
          <a:bodyPr/>
          <a:lstStyle/>
          <a:p>
            <a:endParaRPr lang="en-US"/>
          </a:p>
        </p:txBody>
      </p:sp>
      <p:sp>
        <p:nvSpPr>
          <p:cNvPr id="38" name="Text 36"/>
          <p:cNvSpPr/>
          <p:nvPr/>
        </p:nvSpPr>
        <p:spPr>
          <a:xfrm>
            <a:off x="3417570" y="2154900"/>
            <a:ext cx="827532" cy="365760"/>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Manageable</a:t>
            </a:r>
            <a:endParaRPr lang="en-US" sz="900" dirty="0"/>
          </a:p>
        </p:txBody>
      </p:sp>
      <p:sp>
        <p:nvSpPr>
          <p:cNvPr id="39" name="Shape 37"/>
          <p:cNvSpPr/>
          <p:nvPr/>
        </p:nvSpPr>
        <p:spPr>
          <a:xfrm>
            <a:off x="201168" y="2621244"/>
            <a:ext cx="4023360" cy="585216"/>
          </a:xfrm>
          <a:prstGeom prst="rect">
            <a:avLst/>
          </a:prstGeom>
          <a:solidFill>
            <a:srgbClr val="F4F8FB"/>
          </a:solidFill>
          <a:ln w="12700">
            <a:solidFill>
              <a:srgbClr val="F4F8FB"/>
            </a:solidFill>
            <a:prstDash val="solid"/>
          </a:ln>
        </p:spPr>
        <p:txBody>
          <a:bodyPr/>
          <a:lstStyle/>
          <a:p>
            <a:endParaRPr lang="en-US"/>
          </a:p>
        </p:txBody>
      </p:sp>
      <p:sp>
        <p:nvSpPr>
          <p:cNvPr id="40" name="Shape 38"/>
          <p:cNvSpPr/>
          <p:nvPr/>
        </p:nvSpPr>
        <p:spPr>
          <a:xfrm>
            <a:off x="201168" y="2621244"/>
            <a:ext cx="54864" cy="585216"/>
          </a:xfrm>
          <a:prstGeom prst="rect">
            <a:avLst/>
          </a:prstGeom>
          <a:solidFill>
            <a:srgbClr val="FFC20E"/>
          </a:solidFill>
          <a:ln w="12700">
            <a:solidFill>
              <a:srgbClr val="FFC20E"/>
            </a:solidFill>
            <a:prstDash val="solid"/>
          </a:ln>
        </p:spPr>
        <p:txBody>
          <a:bodyPr/>
          <a:lstStyle/>
          <a:p>
            <a:endParaRPr lang="en-US"/>
          </a:p>
        </p:txBody>
      </p:sp>
      <p:sp>
        <p:nvSpPr>
          <p:cNvPr id="41" name="Text 39"/>
          <p:cNvSpPr/>
          <p:nvPr/>
        </p:nvSpPr>
        <p:spPr>
          <a:xfrm>
            <a:off x="329184" y="2676108"/>
            <a:ext cx="3895344" cy="475488"/>
          </a:xfrm>
          <a:prstGeom prst="rect">
            <a:avLst/>
          </a:prstGeom>
          <a:noFill/>
          <a:ln/>
        </p:spPr>
        <p:txBody>
          <a:bodyPr wrap="square" rtlCol="0" anchor="ctr"/>
          <a:lstStyle/>
          <a:p>
            <a:pPr marL="0" indent="0">
              <a:buNone/>
            </a:pPr>
            <a:r>
              <a:rPr lang="en-US" sz="950" dirty="0">
                <a:latin typeface="Calibri" pitchFamily="34" charset="0"/>
                <a:ea typeface="Calibri" pitchFamily="34" charset="-122"/>
                <a:cs typeface="Calibri" pitchFamily="34" charset="-120"/>
              </a:rPr>
              <a:t>If a deep shot fails on 2nd &amp; 2, LAC faces 3rd &amp; 2, a situation they convert 56% of the time. The risk coaches are avoiding by running conservative is not as large as it may appear.</a:t>
            </a:r>
            <a:endParaRPr lang="en-US" sz="950" dirty="0"/>
          </a:p>
        </p:txBody>
      </p:sp>
      <p:sp>
        <p:nvSpPr>
          <p:cNvPr id="42" name="Shape 40"/>
          <p:cNvSpPr/>
          <p:nvPr/>
        </p:nvSpPr>
        <p:spPr>
          <a:xfrm>
            <a:off x="4572000" y="3487692"/>
            <a:ext cx="4114800" cy="1517904"/>
          </a:xfrm>
          <a:prstGeom prst="rect">
            <a:avLst/>
          </a:prstGeom>
          <a:solidFill>
            <a:srgbClr val="0080C6"/>
          </a:solidFill>
          <a:ln w="12700">
            <a:solidFill>
              <a:srgbClr val="0080C6"/>
            </a:solidFill>
            <a:prstDash val="solid"/>
          </a:ln>
        </p:spPr>
        <p:txBody>
          <a:bodyPr/>
          <a:lstStyle/>
          <a:p>
            <a:endParaRPr lang="en-US" dirty="0"/>
          </a:p>
        </p:txBody>
      </p:sp>
      <p:sp>
        <p:nvSpPr>
          <p:cNvPr id="43" name="Shape 41"/>
          <p:cNvSpPr/>
          <p:nvPr/>
        </p:nvSpPr>
        <p:spPr>
          <a:xfrm>
            <a:off x="4572000" y="3476528"/>
            <a:ext cx="4114800" cy="45720"/>
          </a:xfrm>
          <a:prstGeom prst="rect">
            <a:avLst/>
          </a:prstGeom>
          <a:solidFill>
            <a:srgbClr val="FFC20E"/>
          </a:solidFill>
          <a:ln w="12700">
            <a:solidFill>
              <a:srgbClr val="FFC20E"/>
            </a:solidFill>
            <a:prstDash val="solid"/>
          </a:ln>
        </p:spPr>
        <p:txBody>
          <a:bodyPr/>
          <a:lstStyle/>
          <a:p>
            <a:endParaRPr lang="en-US"/>
          </a:p>
        </p:txBody>
      </p:sp>
      <p:sp>
        <p:nvSpPr>
          <p:cNvPr id="44" name="Text 42"/>
          <p:cNvSpPr/>
          <p:nvPr/>
        </p:nvSpPr>
        <p:spPr>
          <a:xfrm>
            <a:off x="4544568" y="3626660"/>
            <a:ext cx="3895344" cy="25603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Why This Matters Beyond 2nd &amp; Sort</a:t>
            </a:r>
            <a:endParaRPr lang="en-US" sz="1000" dirty="0"/>
          </a:p>
        </p:txBody>
      </p:sp>
      <p:sp>
        <p:nvSpPr>
          <p:cNvPr id="45" name="Text 43"/>
          <p:cNvSpPr/>
          <p:nvPr/>
        </p:nvSpPr>
        <p:spPr>
          <a:xfrm>
            <a:off x="4572000" y="3882692"/>
            <a:ext cx="3895344" cy="109728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Explosive plays are one of the strongest predictors of winning in the NFL. The offense ran 64 plays per game in 2025. Every single one has weight. Routine conservative runs on 2nd &amp; short limit what is otherwise a low-risk opportunity to generate explosives. The defense is in run mode, the playbook is wide open, and the risk floor is a manageable 3rd &amp; short</a:t>
            </a:r>
            <a:r>
              <a:rPr lang="en-US" sz="950" b="1" dirty="0">
                <a:solidFill>
                  <a:srgbClr val="FFFFFF"/>
                </a:solidFill>
                <a:latin typeface="Calibri" pitchFamily="34" charset="0"/>
                <a:ea typeface="Calibri" pitchFamily="34" charset="-122"/>
                <a:cs typeface="Calibri" pitchFamily="34" charset="-120"/>
              </a:rPr>
              <a:t>. This is the spot.</a:t>
            </a:r>
            <a:endParaRPr lang="en-US" sz="950" b="1" dirty="0"/>
          </a:p>
        </p:txBody>
      </p:sp>
      <p:pic>
        <p:nvPicPr>
          <p:cNvPr id="48" name="Image 0" descr="/home/claude/explosive_wins.png"/>
          <p:cNvPicPr>
            <a:picLocks noChangeAspect="1"/>
          </p:cNvPicPr>
          <p:nvPr/>
        </p:nvPicPr>
        <p:blipFill>
          <a:blip r:embed="rId3"/>
          <a:stretch>
            <a:fillRect/>
          </a:stretch>
        </p:blipFill>
        <p:spPr>
          <a:xfrm>
            <a:off x="4379977" y="370885"/>
            <a:ext cx="4813544" cy="3064601"/>
          </a:xfrm>
          <a:prstGeom prst="rect">
            <a:avLst/>
          </a:prstGeom>
        </p:spPr>
      </p:pic>
      <p:sp>
        <p:nvSpPr>
          <p:cNvPr id="51" name="Shape 4">
            <a:extLst>
              <a:ext uri="{FF2B5EF4-FFF2-40B4-BE49-F238E27FC236}">
                <a16:creationId xmlns:a16="http://schemas.microsoft.com/office/drawing/2014/main" id="{1CA4C562-EA29-7DA2-5026-B74669DA3910}"/>
              </a:ext>
            </a:extLst>
          </p:cNvPr>
          <p:cNvSpPr/>
          <p:nvPr/>
        </p:nvSpPr>
        <p:spPr>
          <a:xfrm>
            <a:off x="201168" y="768096"/>
            <a:ext cx="8741664" cy="0"/>
          </a:xfrm>
          <a:prstGeom prst="line">
            <a:avLst/>
          </a:prstGeom>
          <a:noFill/>
          <a:ln w="12700">
            <a:solidFill>
              <a:srgbClr val="F4F8FB"/>
            </a:solidFill>
            <a:prstDash val="solid"/>
          </a:ln>
        </p:spPr>
        <p:txBody>
          <a:bodyPr/>
          <a:lstStyle/>
          <a:p>
            <a:endParaRPr lang="en-US"/>
          </a:p>
        </p:txBody>
      </p:sp>
      <p:sp>
        <p:nvSpPr>
          <p:cNvPr id="53" name="Shape 37">
            <a:extLst>
              <a:ext uri="{FF2B5EF4-FFF2-40B4-BE49-F238E27FC236}">
                <a16:creationId xmlns:a16="http://schemas.microsoft.com/office/drawing/2014/main" id="{8C431A68-7A19-D5B8-0C54-2AE4012733C7}"/>
              </a:ext>
            </a:extLst>
          </p:cNvPr>
          <p:cNvSpPr/>
          <p:nvPr/>
        </p:nvSpPr>
        <p:spPr>
          <a:xfrm>
            <a:off x="289180" y="3334052"/>
            <a:ext cx="4023360" cy="585216"/>
          </a:xfrm>
          <a:prstGeom prst="rect">
            <a:avLst/>
          </a:prstGeom>
          <a:solidFill>
            <a:srgbClr val="F4F8FB"/>
          </a:solidFill>
          <a:ln w="12700">
            <a:solidFill>
              <a:srgbClr val="F4F8FB"/>
            </a:solidFill>
            <a:prstDash val="solid"/>
          </a:ln>
        </p:spPr>
        <p:txBody>
          <a:bodyPr/>
          <a:lstStyle/>
          <a:p>
            <a:r>
              <a:rPr lang="en-US" sz="950" dirty="0">
                <a:solidFill>
                  <a:srgbClr val="000000"/>
                </a:solidFill>
                <a:latin typeface="Calibri" panose="020F0502020204030204" pitchFamily="34" charset="0"/>
                <a:cs typeface="Calibri" panose="020F0502020204030204" pitchFamily="34" charset="0"/>
              </a:rPr>
              <a:t>Herbert elevates EPA by turning 2nd &amp; short into a true scoring window. His ability to attack downfield makes aggressive calls more efficient, increasing expected points rather than just moving the chains.</a:t>
            </a:r>
            <a:endParaRPr lang="en-US" sz="950" dirty="0">
              <a:latin typeface="Calibri" panose="020F0502020204030204" pitchFamily="34" charset="0"/>
              <a:cs typeface="Calibri" panose="020F0502020204030204" pitchFamily="34" charset="0"/>
            </a:endParaRPr>
          </a:p>
        </p:txBody>
      </p:sp>
      <p:sp>
        <p:nvSpPr>
          <p:cNvPr id="55" name="Shape 38">
            <a:extLst>
              <a:ext uri="{FF2B5EF4-FFF2-40B4-BE49-F238E27FC236}">
                <a16:creationId xmlns:a16="http://schemas.microsoft.com/office/drawing/2014/main" id="{9320EEBB-7D63-18F4-880E-1174F4169D2C}"/>
              </a:ext>
            </a:extLst>
          </p:cNvPr>
          <p:cNvSpPr/>
          <p:nvPr/>
        </p:nvSpPr>
        <p:spPr>
          <a:xfrm>
            <a:off x="218688" y="3338449"/>
            <a:ext cx="54864" cy="585216"/>
          </a:xfrm>
          <a:prstGeom prst="rect">
            <a:avLst/>
          </a:prstGeom>
          <a:solidFill>
            <a:srgbClr val="FFC20E"/>
          </a:solidFill>
          <a:ln w="12700">
            <a:solidFill>
              <a:srgbClr val="FFC20E"/>
            </a:solidFill>
            <a:prstDash val="solid"/>
          </a:ln>
        </p:spPr>
        <p:txBody>
          <a:bodyPr/>
          <a:lstStyle/>
          <a:p>
            <a:endParaRPr lang="en-US"/>
          </a:p>
        </p:txBody>
      </p:sp>
      <p:sp>
        <p:nvSpPr>
          <p:cNvPr id="56" name="Shape 37">
            <a:extLst>
              <a:ext uri="{FF2B5EF4-FFF2-40B4-BE49-F238E27FC236}">
                <a16:creationId xmlns:a16="http://schemas.microsoft.com/office/drawing/2014/main" id="{45956EEF-2648-F7E4-EC6D-38F21FDF6D7B}"/>
              </a:ext>
            </a:extLst>
          </p:cNvPr>
          <p:cNvSpPr/>
          <p:nvPr/>
        </p:nvSpPr>
        <p:spPr>
          <a:xfrm>
            <a:off x="273552" y="4046860"/>
            <a:ext cx="4023360" cy="573412"/>
          </a:xfrm>
          <a:prstGeom prst="rect">
            <a:avLst/>
          </a:prstGeom>
          <a:solidFill>
            <a:srgbClr val="F4F8FB"/>
          </a:solidFill>
          <a:ln w="12700">
            <a:solidFill>
              <a:srgbClr val="F4F8FB"/>
            </a:solidFill>
            <a:prstDash val="solid"/>
          </a:ln>
        </p:spPr>
        <p:txBody>
          <a:bodyPr/>
          <a:lstStyle/>
          <a:p>
            <a:r>
              <a:rPr lang="en-US" sz="950" dirty="0">
                <a:solidFill>
                  <a:srgbClr val="000000"/>
                </a:solidFill>
                <a:latin typeface="Calibri" panose="020F0502020204030204" pitchFamily="34" charset="0"/>
                <a:cs typeface="Calibri" panose="020F0502020204030204" pitchFamily="34" charset="0"/>
              </a:rPr>
              <a:t>EPA already shows the advantage of taking these shots, but it doesn’</a:t>
            </a:r>
            <a:r>
              <a:rPr lang="en-US" sz="950" dirty="0">
                <a:latin typeface="Calibri" panose="020F0502020204030204" pitchFamily="34" charset="0"/>
                <a:cs typeface="Calibri" panose="020F0502020204030204" pitchFamily="34" charset="0"/>
              </a:rPr>
              <a:t>t full capture the defensive stress they create. Forcing the defense to defend vertically creates space, increasing the overall upside of the decision. </a:t>
            </a:r>
            <a:endParaRPr lang="en-US" sz="950" dirty="0">
              <a:solidFill>
                <a:srgbClr val="000000"/>
              </a:solidFill>
              <a:latin typeface="Calibri" panose="020F0502020204030204" pitchFamily="34" charset="0"/>
              <a:cs typeface="Calibri" panose="020F0502020204030204" pitchFamily="34" charset="0"/>
            </a:endParaRPr>
          </a:p>
        </p:txBody>
      </p:sp>
      <p:sp>
        <p:nvSpPr>
          <p:cNvPr id="57" name="Shape 38">
            <a:extLst>
              <a:ext uri="{FF2B5EF4-FFF2-40B4-BE49-F238E27FC236}">
                <a16:creationId xmlns:a16="http://schemas.microsoft.com/office/drawing/2014/main" id="{53EFD4C5-EC4F-31E0-DD93-C4094DD9B850}"/>
              </a:ext>
            </a:extLst>
          </p:cNvPr>
          <p:cNvSpPr/>
          <p:nvPr/>
        </p:nvSpPr>
        <p:spPr>
          <a:xfrm>
            <a:off x="218688" y="4035055"/>
            <a:ext cx="54864" cy="585216"/>
          </a:xfrm>
          <a:prstGeom prst="rect">
            <a:avLst/>
          </a:prstGeom>
          <a:solidFill>
            <a:srgbClr val="FFC20E"/>
          </a:solidFill>
          <a:ln w="12700">
            <a:solidFill>
              <a:srgbClr val="FFC20E"/>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1055</Words>
  <Application>Microsoft Macintosh PowerPoint</Application>
  <PresentationFormat>On-screen Show (16:9)</PresentationFormat>
  <Paragraphs>201</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nevapwilliams@outlook.com</cp:lastModifiedBy>
  <cp:revision>4</cp:revision>
  <dcterms:created xsi:type="dcterms:W3CDTF">2026-04-23T03:00:19Z</dcterms:created>
  <dcterms:modified xsi:type="dcterms:W3CDTF">2026-04-23T06:24:04Z</dcterms:modified>
</cp:coreProperties>
</file>